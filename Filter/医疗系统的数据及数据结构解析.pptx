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sldIdLst>
    <p:sldId id="256" r:id="rId5"/>
    <p:sldId id="257" r:id="rId7"/>
    <p:sldId id="258" r:id="rId8"/>
    <p:sldId id="259" r:id="rId9"/>
    <p:sldId id="266" r:id="rId10"/>
    <p:sldId id="267" r:id="rId11"/>
    <p:sldId id="268" r:id="rId12"/>
    <p:sldId id="269" r:id="rId13"/>
    <p:sldId id="270" r:id="rId14"/>
    <p:sldId id="261" r:id="rId15"/>
    <p:sldId id="262" r:id="rId16"/>
    <p:sldId id="263" r:id="rId17"/>
    <p:sldId id="264" r:id="rId18"/>
    <p:sldId id="265" r:id="rId19"/>
    <p:sldId id="260" r:id="rId20"/>
    <p:sldId id="271" r:id="rId21"/>
    <p:sldId id="272" r:id="rId22"/>
    <p:sldId id="273" r:id="rId23"/>
    <p:sldId id="274" r:id="rId24"/>
    <p:sldId id="282" r:id="rId25"/>
    <p:sldId id="276" r:id="rId26"/>
    <p:sldId id="277" r:id="rId27"/>
    <p:sldId id="278" r:id="rId28"/>
    <p:sldId id="280" r:id="rId29"/>
    <p:sldId id="281" r:id="rId30"/>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8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8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本次分享。今天我们将深入探讨医疗信息化的两大核心引擎——HIS和LIS系统。我们将从它们的定义、核心功能出发，重点剖析其内部的数据组织方式和关键数据结构，并了解它们之间如何通过标准化协议进行数据交互。希望通过这次分享，能让大家对医院信息系统的数据层面有一个全面而深入的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分享将分为四个部分。首先，我们将深入解析医院信息系统HIS，探讨其作为医院运营核心的关键作用。接着，会详细介绍影像归档与通信系统PACS，了解其在数字化影像管理中的核心地位。第三部分，我们将聚焦临床检验信息系统LIS，分析其在现代化检验科中的应用价值。最后，我们将阐述HIS、PACS、LIS三大系统如何协同工作，实现信息的互联互通与集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让我们明确HIS和LIS在医院信息化中的核心地位。HIS，医院信息系统，是医院的大脑和中枢神经系统，管理着所有核心业务流程。而LIS，临床检验信息系统，则是检验科的专业操作系统。它们一个负责全面的业务管理，一个专注于检验流程，共同构成了医院数据流动的核心。接下来，我们将逐一拆解这两个系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现在我们进入第一章，深度解析医院信息系统，也就是HIS。HIS是医院的大脑和中枢神经系统，几乎所有的日常运营都离不开它。从您挂号开始，到医生开处方、取药、缴费，所有环节都由HIS系统管理和记录。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现在，我们进入第一章，深入解析医院信息系统，也就是HIS。我们将从它的定义和核心功能开始，然后深入到其内部的数据结构，看看这个“数字中枢”是如何组织和管理海量信息的。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IS系统的功能非常全面，可以分为四大模块。首先是临床业务管理，这是和患者直接相关的部分，包括挂号、诊疗、住院等。其次是运营管理，负责医院的药品、物资和财务。第三是医技协同，确保HIS能和检验科、影像科等系统顺畅沟通。最后是决策支持，为医院管理者提供数据洞察。这些功能共同构成了医院高效运转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来看HIS最核心的数据结构——患者主索引表，简称PMI。这个表的作用就像是给每个患者颁发一个唯一的“身份证”，即PatientID。所有后续的挂号、医嘱、检验等信息，都会通过这个ID与患者关联起来。这保证了无论患者来多少次医院，他的信息都是统一、完整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有了患者主索引，我们来看两个关键的业务表。挂号信息表记录了患者每一次就诊的具体信息，比如挂了哪个科、哪个医生的号。而医嘱信息表则记录了医生下达的具体指令，无论是开药、开检查还是开检验，都在这里体现。这两个表通过RegID和PatientID关联，形成了诊疗活动的主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医嘱类型是药品时，系统会生成一条对应的处方信息。处方信息表非常详细，包含了药品代码、名称、剂量、用法、频次等所有药房发药所需的信息。它通过OrderID与医嘱表关联，确保了药品发放的准确性和可追溯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HIS和LIS，医院还有一个非常重要的信息系统——PACS，也就是影像归档与通信系统。如果说HIS是医院的大脑，LIS是检验科的中枢，那么PACS就是医院的“眼睛”。它负责管理所有的医学影像，比如CT、MRI片子。PACS实现了影像的数字化，医生可以在电脑上随时调阅、诊断，极大地提高了诊断效率和准确性。它和HIS、LIS也是互联互通的，构成了完整的数字化诊疗环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PACS系统的核心功能覆盖了影像的整个生命周期。首先是影像采集，它能自动从各种影像设备获取数据。然后是影像存储，确保海量数据的长期安全保存。接着是影像传输，让医生能在任何地方快速调阅影像。最后是专业的阅片诊断工作站，提供强大的后处理工具，辅助医生做出准确诊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PACS系统处理的数据核心是DICOM标准。DICOM是医学影像的通用语言，它确保了不同厂家的设备都能互相理解。一个DICOM文件里，既有我们看到的图像，也包含了患者姓名、检查时间、设备型号等重要信息。正是因为有了DICOM标准，PACS系统才能顺利地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具体来看，DICOM文件里的信息是通过标签来组织的。每个标签都有一个唯一的编号，比如(0010, 0010)代表患者姓名，(0008, 0060)代表检查类型，比如是CT还是MRI。这些标签里的信息，加上(7FE0, 0010)这个标签里存储的实际图像像素数据，共同构成了一个完整的DICOM文件。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PACS系统如何与HIS和LIS协同工作呢？整个流程是这样的：医生在HIS里开检查单，信息会自动传到PACS。技师做完检查、写好报告后，报告又会自动传回HIS。这样，医生在HIS系统里就能直接看到患者的影像和报告，实现了“图文一体化”，非常方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接下来是第三章，我们来了解临床检验信息系统，LIS。如果说HIS是医院的大脑，那LIS就是检验科的中枢。它管理着所有化验流程，确保每一份样本都能被准确、高效地处理，并将结果及时反馈给医生。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了解了HIS之后，我们进入第二章，聚焦于临床检验信息系统，也就是LIS。这个系统专门服务于医院的检验科，管理着从样本采集到报告发布的整个流程。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IS的核心任务就是管理检验流程。它从HIS接收检验申请，然后对样本进行全生命周期管理，包括条码标识、上机检测。LIS能直接和检验仪器对接，自动采集数据，大大提高了效率。检验师在系统上审核结果，确认无误后，报告就会自动回传到HIS，供医生查看。同时，LIS还负责质量控制，保证检验结果的可靠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IS的数据结构围绕“样本”和“项目”两个核心。样本信息表记录了每一个送到检验科的样本信息，它通过OrderID_HIS与HIS的医嘱关联。而检验项目字典表则定义了所有可以做的检验项目，包括名称、参考范围、单位和价格等。这两个表是LIS系统运转的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检验结果表是LIS最关键的输出。每一条记录代表一个样本的一个检验项目的结果。它关联了样本ID和检验项目代码，记录了具体的结果值、单位，以及最重要的——异常标志，比如H代表偏高，L代表偏低。此外，还有审核状态字段，确保只有经过检验师审核确认的结果才能被发送出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HIS和LIS，医院还有一个非常重要的信息系统——PACS，也就是影像归档与通信系统。如果说HIS是医院的大脑，LIS是检验科的中枢，那么PACS就是医院的“眼睛”。它负责管理所有的医学影像，比如CT、MRI片子。PACS实现了影像的数字化，医生可以在电脑上随时调阅、诊断，极大地提高了诊断效率和准确性。它和HIS、LIS也是互联互通的，构成了完整的数字化诊疗环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IS和LIS的沟通语言是HL7协议。整个流程就像发快递：医生在HIS下单（开医嘱），HIS打包成一个叫ORM的包裹发给LIS；LIS收到包裹后开始处理（做检验），处理完再打包成一个叫ORU的包裹，把结果寄回给HIS。这个过程完全自动化，无需人工干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这三大系统是如何实现互联互通的呢？关键在于两个核心标准：HL7和DICOM。简单来说，HL7负责传递文字信息，比如检查申请、诊断报告。而DICOM负责传递影像数据，包括图像本身和相关信息。一个管“事”，一个管“图”，两者结合，才实现了真正的“图文一体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这里是HL7消息的具体格式。大家可以看到，它是一种纯文本格式，通过不同的段（如MSH, PID, OBR, OBX）来组织信息。ORM消息包含了患者信息和检验申请。而ORU消息则包含了详细的检验结果，每个OBX段就是一个项目的结果，非常清晰。这种标准化的格式保证了不同厂商的系统都能互相理解。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设计HIS和LIS的数据结构时，有几个关键点：统一的患者ID、规范的关系型设计、状态驱动的流程以及完善的数据字典。展望未来，我们看到FHIR标准正在兴起，它将使系统集成更加便捷。同时，医疗大数据和AI的应用将为智慧医疗带来无限可能，但我们也必须始终关注数据安全和患者隐私保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我的分享到此结束，感谢大家的聆听。现在是问答环节，如果大家对HIS、LIS的数据结构或系统集成有任何问题，欢迎提问。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7" Type="http://schemas.openxmlformats.org/officeDocument/2006/relationships/notesSlide" Target="../notesSlides/notesSlide2.xml"/><Relationship Id="rId26" Type="http://schemas.openxmlformats.org/officeDocument/2006/relationships/slideLayout" Target="../slideLayouts/slideLayout12.xml"/><Relationship Id="rId25" Type="http://schemas.openxmlformats.org/officeDocument/2006/relationships/tags" Target="../tags/tag24.xml"/><Relationship Id="rId24" Type="http://schemas.openxmlformats.org/officeDocument/2006/relationships/tags" Target="../tags/tag23.xml"/><Relationship Id="rId23" Type="http://schemas.openxmlformats.org/officeDocument/2006/relationships/tags" Target="../tags/tag22.xml"/><Relationship Id="rId22" Type="http://schemas.openxmlformats.org/officeDocument/2006/relationships/tags" Target="../tags/tag2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1" Type="http://schemas.openxmlformats.org/officeDocument/2006/relationships/notesSlide" Target="../notesSlides/notesSlide11.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2.xml"/><Relationship Id="rId2" Type="http://schemas.openxmlformats.org/officeDocument/2006/relationships/image" Target="../media/image12.png"/><Relationship Id="rId1" Type="http://schemas.openxmlformats.org/officeDocument/2006/relationships/image" Target="../media/image1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gradFill rotWithShape="1">
            <a:gsLst>
              <a:gs pos="0">
                <a:srgbClr val="000000">
                  <a:alpha val="65000"/>
                </a:srgbClr>
              </a:gs>
              <a:gs pos="70000">
                <a:srgbClr val="000000">
                  <a:alpha val="15000"/>
                </a:srgbClr>
              </a:gs>
              <a:gs pos="100000">
                <a:srgbClr val="000000">
                  <a:alpha val="0"/>
                </a:srgbClr>
              </a:gs>
            </a:gsLst>
            <a:lin ang="0"/>
          </a:gra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2286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医疗系统</a:t>
            </a:r>
            <a:r>
              <a:rPr lang="zh-CN" alt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的数据及</a:t>
            </a:r>
            <a:r>
              <a:rPr lang="zh-CN" alt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a:t>
            </a:r>
            <a:endParaRPr lang="zh-CN" alt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sp>
        <p:nvSpPr>
          <p:cNvPr id="4" name="AutoShape 4"/>
          <p:cNvSpPr/>
          <p:nvPr>
            <p:custDataLst>
              <p:tags r:id="rId2"/>
            </p:custDataLst>
          </p:nvPr>
        </p:nvSpPr>
        <p:spPr>
          <a:xfrm>
            <a:off x="762000" y="1524000"/>
            <a:ext cx="5207000" cy="2286000"/>
          </a:xfrm>
          <a:prstGeom prst="roundRect">
            <a:avLst>
              <a:gd name="adj" fmla="val 0"/>
            </a:avLst>
          </a:prstGeom>
          <a:solidFill>
            <a:srgbClr val="FFFFFF">
              <a:alpha val="9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762000" y="1524000"/>
            <a:ext cx="50800" cy="2286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4"/>
            </p:custDataLst>
          </p:nvPr>
        </p:nvSpPr>
        <p:spPr>
          <a:xfrm>
            <a:off x="952500" y="1651000"/>
            <a:ext cx="101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custDataLst>
              <p:tags r:id="rId5"/>
            </p:custDataLst>
          </p:nvPr>
        </p:nvSpPr>
        <p:spPr>
          <a:xfrm>
            <a:off x="2032000" y="1714500"/>
            <a:ext cx="3746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医院信息系统 (HIS) 解析</a:t>
            </a:r>
            <a:endParaRPr lang="en-US" sz="1100"/>
          </a:p>
        </p:txBody>
      </p:sp>
      <p:cxnSp>
        <p:nvCxnSpPr>
          <p:cNvPr id="8" name="Connector 8"/>
          <p:cNvCxnSpPr/>
          <p:nvPr>
            <p:custDataLst>
              <p:tags r:id="rId6"/>
            </p:custDataLst>
          </p:nvPr>
        </p:nvCxnSpPr>
        <p:spPr>
          <a:xfrm rot="-9046">
            <a:off x="952508" y="2660650"/>
            <a:ext cx="4826000" cy="12700"/>
          </a:xfrm>
          <a:prstGeom prst="straightConnector1">
            <a:avLst/>
          </a:prstGeom>
          <a:solidFill>
            <a:srgbClr val="DEE0E3">
              <a:alpha val="100000"/>
            </a:srgbClr>
          </a:solidFill>
          <a:ln w="12700" cap="flat" cmpd="sng">
            <a:solidFill>
              <a:srgbClr val="4FD1C5">
                <a:alpha val="40000"/>
              </a:srgbClr>
            </a:solidFill>
            <a:prstDash val="solid"/>
            <a:round/>
            <a:headEnd type="none" w="med" len="med"/>
            <a:tailEnd type="none" w="med" len="med"/>
          </a:ln>
        </p:spPr>
      </p:cxnSp>
      <p:sp>
        <p:nvSpPr>
          <p:cNvPr id="9" name="AutoShape 9"/>
          <p:cNvSpPr/>
          <p:nvPr>
            <p:custDataLst>
              <p:tags r:id="rId7"/>
            </p:custDataLst>
          </p:nvPr>
        </p:nvSpPr>
        <p:spPr>
          <a:xfrm>
            <a:off x="952500" y="28194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深入剖析HIS作为医院运营核心的关键作用，包括其核心功能、数据结构设计，以及如何支撑医院日常业务流程。</a:t>
            </a:r>
            <a:endParaRPr lang="en-US" sz="1100"/>
          </a:p>
        </p:txBody>
      </p:sp>
      <p:sp>
        <p:nvSpPr>
          <p:cNvPr id="10" name="AutoShape 10"/>
          <p:cNvSpPr/>
          <p:nvPr>
            <p:custDataLst>
              <p:tags r:id="rId8"/>
            </p:custDataLst>
          </p:nvPr>
        </p:nvSpPr>
        <p:spPr>
          <a:xfrm>
            <a:off x="6223000" y="1524000"/>
            <a:ext cx="5207000" cy="2286000"/>
          </a:xfrm>
          <a:prstGeom prst="roundRect">
            <a:avLst>
              <a:gd name="adj" fmla="val 0"/>
            </a:avLst>
          </a:prstGeom>
          <a:solidFill>
            <a:srgbClr val="FFFFFF">
              <a:alpha val="9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p>
        </p:txBody>
      </p:sp>
      <p:sp>
        <p:nvSpPr>
          <p:cNvPr id="11" name="AutoShape 11"/>
          <p:cNvSpPr/>
          <p:nvPr>
            <p:custDataLst>
              <p:tags r:id="rId9"/>
            </p:custDataLst>
          </p:nvPr>
        </p:nvSpPr>
        <p:spPr>
          <a:xfrm>
            <a:off x="6223000" y="1524000"/>
            <a:ext cx="50800" cy="2286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10"/>
            </p:custDataLst>
          </p:nvPr>
        </p:nvSpPr>
        <p:spPr>
          <a:xfrm>
            <a:off x="6413500" y="1651000"/>
            <a:ext cx="101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3" name="AutoShape 13"/>
          <p:cNvSpPr/>
          <p:nvPr>
            <p:custDataLst>
              <p:tags r:id="rId11"/>
            </p:custDataLst>
          </p:nvPr>
        </p:nvSpPr>
        <p:spPr>
          <a:xfrm>
            <a:off x="7493000" y="1714500"/>
            <a:ext cx="3746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影像归档与通信系统 (PACS) 解析</a:t>
            </a:r>
            <a:endParaRPr lang="en-US" sz="1100"/>
          </a:p>
        </p:txBody>
      </p:sp>
      <p:cxnSp>
        <p:nvCxnSpPr>
          <p:cNvPr id="14" name="Connector 14"/>
          <p:cNvCxnSpPr/>
          <p:nvPr>
            <p:custDataLst>
              <p:tags r:id="rId12"/>
            </p:custDataLst>
          </p:nvPr>
        </p:nvCxnSpPr>
        <p:spPr>
          <a:xfrm rot="-9046">
            <a:off x="6413508" y="2660650"/>
            <a:ext cx="4826000" cy="12700"/>
          </a:xfrm>
          <a:prstGeom prst="straightConnector1">
            <a:avLst/>
          </a:prstGeom>
          <a:solidFill>
            <a:srgbClr val="DEE0E3">
              <a:alpha val="100000"/>
            </a:srgbClr>
          </a:solidFill>
          <a:ln w="12700" cap="flat" cmpd="sng">
            <a:solidFill>
              <a:srgbClr val="4FD1C5">
                <a:alpha val="40000"/>
              </a:srgbClr>
            </a:solidFill>
            <a:prstDash val="solid"/>
            <a:round/>
            <a:headEnd type="none" w="med" len="med"/>
            <a:tailEnd type="none" w="med" len="med"/>
          </a:ln>
        </p:spPr>
      </p:cxnSp>
      <p:sp>
        <p:nvSpPr>
          <p:cNvPr id="15" name="AutoShape 15"/>
          <p:cNvSpPr/>
          <p:nvPr>
            <p:custDataLst>
              <p:tags r:id="rId13"/>
            </p:custDataLst>
          </p:nvPr>
        </p:nvSpPr>
        <p:spPr>
          <a:xfrm>
            <a:off x="6413500" y="28194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详细介绍PACS在数字化影像管理中的核心地位，涵盖其功能模块、DICOM数据标准及其与临床诊疗的紧密结合。</a:t>
            </a:r>
            <a:endParaRPr lang="en-US" sz="1100"/>
          </a:p>
        </p:txBody>
      </p:sp>
      <p:sp>
        <p:nvSpPr>
          <p:cNvPr id="16" name="AutoShape 16"/>
          <p:cNvSpPr/>
          <p:nvPr>
            <p:custDataLst>
              <p:tags r:id="rId14"/>
            </p:custDataLst>
          </p:nvPr>
        </p:nvSpPr>
        <p:spPr>
          <a:xfrm>
            <a:off x="762000" y="4064000"/>
            <a:ext cx="5207000" cy="2286000"/>
          </a:xfrm>
          <a:prstGeom prst="roundRect">
            <a:avLst>
              <a:gd name="adj" fmla="val 0"/>
            </a:avLst>
          </a:prstGeom>
          <a:solidFill>
            <a:srgbClr val="FFFFFF">
              <a:alpha val="9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p>
        </p:txBody>
      </p:sp>
      <p:sp>
        <p:nvSpPr>
          <p:cNvPr id="17" name="AutoShape 17"/>
          <p:cNvSpPr/>
          <p:nvPr>
            <p:custDataLst>
              <p:tags r:id="rId15"/>
            </p:custDataLst>
          </p:nvPr>
        </p:nvSpPr>
        <p:spPr>
          <a:xfrm>
            <a:off x="762000" y="4064000"/>
            <a:ext cx="50800" cy="2286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custDataLst>
              <p:tags r:id="rId16"/>
            </p:custDataLst>
          </p:nvPr>
        </p:nvSpPr>
        <p:spPr>
          <a:xfrm>
            <a:off x="952500" y="4191000"/>
            <a:ext cx="101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9" name="AutoShape 19"/>
          <p:cNvSpPr/>
          <p:nvPr>
            <p:custDataLst>
              <p:tags r:id="rId17"/>
            </p:custDataLst>
          </p:nvPr>
        </p:nvSpPr>
        <p:spPr>
          <a:xfrm>
            <a:off x="2032000" y="4254500"/>
            <a:ext cx="3746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临床检验信息系统 (LIS) 解析</a:t>
            </a:r>
            <a:endParaRPr lang="en-US" sz="1100"/>
          </a:p>
        </p:txBody>
      </p:sp>
      <p:cxnSp>
        <p:nvCxnSpPr>
          <p:cNvPr id="20" name="Connector 20"/>
          <p:cNvCxnSpPr/>
          <p:nvPr>
            <p:custDataLst>
              <p:tags r:id="rId18"/>
            </p:custDataLst>
          </p:nvPr>
        </p:nvCxnSpPr>
        <p:spPr>
          <a:xfrm rot="-9046">
            <a:off x="952508" y="5200650"/>
            <a:ext cx="4826000" cy="12700"/>
          </a:xfrm>
          <a:prstGeom prst="straightConnector1">
            <a:avLst/>
          </a:prstGeom>
          <a:solidFill>
            <a:srgbClr val="DEE0E3">
              <a:alpha val="100000"/>
            </a:srgbClr>
          </a:solidFill>
          <a:ln w="12700" cap="flat" cmpd="sng">
            <a:solidFill>
              <a:srgbClr val="4FD1C5">
                <a:alpha val="40000"/>
              </a:srgbClr>
            </a:solidFill>
            <a:prstDash val="solid"/>
            <a:round/>
            <a:headEnd type="none" w="med" len="med"/>
            <a:tailEnd type="none" w="med" len="med"/>
          </a:ln>
        </p:spPr>
      </p:cxnSp>
      <p:sp>
        <p:nvSpPr>
          <p:cNvPr id="21" name="AutoShape 21"/>
          <p:cNvSpPr/>
          <p:nvPr>
            <p:custDataLst>
              <p:tags r:id="rId19"/>
            </p:custDataLst>
          </p:nvPr>
        </p:nvSpPr>
        <p:spPr>
          <a:xfrm>
            <a:off x="952500" y="53594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聚焦LIS在现代化检验科中的应用，探讨其在样本管理、检验流程自动化及结果报告中的核心价值。</a:t>
            </a:r>
            <a:endParaRPr lang="en-US" sz="1100"/>
          </a:p>
        </p:txBody>
      </p:sp>
      <p:sp>
        <p:nvSpPr>
          <p:cNvPr id="22" name="AutoShape 22"/>
          <p:cNvSpPr/>
          <p:nvPr>
            <p:custDataLst>
              <p:tags r:id="rId20"/>
            </p:custDataLst>
          </p:nvPr>
        </p:nvSpPr>
        <p:spPr>
          <a:xfrm>
            <a:off x="6223000" y="4064000"/>
            <a:ext cx="5207000" cy="2286000"/>
          </a:xfrm>
          <a:prstGeom prst="roundRect">
            <a:avLst>
              <a:gd name="adj" fmla="val 0"/>
            </a:avLst>
          </a:prstGeom>
          <a:solidFill>
            <a:srgbClr val="FFFFFF">
              <a:alpha val="9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p>
        </p:txBody>
      </p:sp>
      <p:sp>
        <p:nvSpPr>
          <p:cNvPr id="23" name="AutoShape 23"/>
          <p:cNvSpPr/>
          <p:nvPr>
            <p:custDataLst>
              <p:tags r:id="rId21"/>
            </p:custDataLst>
          </p:nvPr>
        </p:nvSpPr>
        <p:spPr>
          <a:xfrm>
            <a:off x="6223000" y="4064000"/>
            <a:ext cx="50800" cy="2286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custDataLst>
              <p:tags r:id="rId22"/>
            </p:custDataLst>
          </p:nvPr>
        </p:nvSpPr>
        <p:spPr>
          <a:xfrm>
            <a:off x="6413500" y="4191000"/>
            <a:ext cx="1016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5" name="AutoShape 25"/>
          <p:cNvSpPr/>
          <p:nvPr>
            <p:custDataLst>
              <p:tags r:id="rId23"/>
            </p:custDataLst>
          </p:nvPr>
        </p:nvSpPr>
        <p:spPr>
          <a:xfrm>
            <a:off x="7493000" y="4254500"/>
            <a:ext cx="3746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三大系统的数据交互与集成</a:t>
            </a:r>
            <a:endParaRPr lang="en-US" sz="1100"/>
          </a:p>
        </p:txBody>
      </p:sp>
      <p:cxnSp>
        <p:nvCxnSpPr>
          <p:cNvPr id="26" name="Connector 26"/>
          <p:cNvCxnSpPr/>
          <p:nvPr>
            <p:custDataLst>
              <p:tags r:id="rId24"/>
            </p:custDataLst>
          </p:nvPr>
        </p:nvCxnSpPr>
        <p:spPr>
          <a:xfrm rot="-9046">
            <a:off x="6413508" y="5200650"/>
            <a:ext cx="4826000" cy="12700"/>
          </a:xfrm>
          <a:prstGeom prst="straightConnector1">
            <a:avLst/>
          </a:prstGeom>
          <a:solidFill>
            <a:srgbClr val="DEE0E3">
              <a:alpha val="100000"/>
            </a:srgbClr>
          </a:solidFill>
          <a:ln w="12700" cap="flat" cmpd="sng">
            <a:solidFill>
              <a:srgbClr val="4FD1C5">
                <a:alpha val="40000"/>
              </a:srgbClr>
            </a:solidFill>
            <a:prstDash val="solid"/>
            <a:round/>
            <a:headEnd type="none" w="med" len="med"/>
            <a:tailEnd type="none" w="med" len="med"/>
          </a:ln>
        </p:spPr>
      </p:cxnSp>
      <p:sp>
        <p:nvSpPr>
          <p:cNvPr id="27" name="AutoShape 27"/>
          <p:cNvSpPr/>
          <p:nvPr>
            <p:custDataLst>
              <p:tags r:id="rId25"/>
            </p:custDataLst>
          </p:nvPr>
        </p:nvSpPr>
        <p:spPr>
          <a:xfrm>
            <a:off x="6413500" y="5359400"/>
            <a:ext cx="4889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阐述HIS、PACS、LIS三大系统如何通过标准化接口协同工作，实现信息互联互通，构建完整的数字化诊疗闭环。</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医疗信息化的核心引擎</a:t>
            </a:r>
            <a:endParaRPr lang="en-US" sz="1100"/>
          </a:p>
        </p:txBody>
      </p:sp>
      <p:sp>
        <p:nvSpPr>
          <p:cNvPr id="4" name="AutoShape 4"/>
          <p:cNvSpPr/>
          <p:nvPr/>
        </p:nvSpPr>
        <p:spPr>
          <a:xfrm>
            <a:off x="762000" y="1397000"/>
            <a:ext cx="10668000" cy="1206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4986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数字化浪潮席卷全球的今天，医疗信息化已成为提升医疗服务质量、优化医院运营效率的关键驱动力。它不仅重塑了患者就医体验，更通过技术手段打通了医疗服务的各个环节，将分散的业务流与数据流进行有机整合，为智慧医院的现代化建设提供了不可或缺的底层支撑。</a:t>
            </a:r>
            <a:endParaRPr lang="en-US" sz="1100"/>
          </a:p>
        </p:txBody>
      </p:sp>
      <p:sp>
        <p:nvSpPr>
          <p:cNvPr id="6" name="AutoShape 6"/>
          <p:cNvSpPr/>
          <p:nvPr/>
        </p:nvSpPr>
        <p:spPr>
          <a:xfrm>
            <a:off x="762000" y="2730500"/>
            <a:ext cx="3302000" cy="2286000"/>
          </a:xfrm>
          <a:prstGeom prst="roundRect">
            <a:avLst>
              <a:gd name="adj" fmla="val 0"/>
            </a:avLst>
          </a:prstGeom>
          <a:solidFill>
            <a:srgbClr val="FFFFFF">
              <a:alpha val="94000"/>
            </a:srgbClr>
          </a:solidFill>
          <a:ln w="25400" cap="flat" cmpd="sng">
            <a:noFill/>
            <a:prstDash val="solid"/>
            <a:round/>
          </a:ln>
        </p:spPr>
        <p:txBody>
          <a:bodyPr vert="horz" wrap="square" lIns="0" tIns="0" rIns="0" bIns="0" rtlCol="0" anchor="ctr" anchorCtr="0"/>
          <a:lstStyle/>
          <a:p>
            <a:pPr algn="ctr">
              <a:defRPr/>
            </a:pPr>
          </a:p>
        </p:txBody>
      </p:sp>
      <p:sp>
        <p:nvSpPr>
          <p:cNvPr id="7" name="AutoShape 7"/>
          <p:cNvSpPr/>
          <p:nvPr/>
        </p:nvSpPr>
        <p:spPr>
          <a:xfrm>
            <a:off x="762000" y="2730500"/>
            <a:ext cx="3302000" cy="50800"/>
          </a:xfrm>
          <a:prstGeom prst="roundRect">
            <a:avLst>
              <a:gd name="adj" fmla="val 0"/>
            </a:avLst>
          </a:prstGeom>
          <a:solidFill>
            <a:srgbClr val="4FD1C5">
              <a:alpha val="100000"/>
            </a:srgbClr>
          </a:solidFill>
          <a:ln w="25400" cap="flat" cmpd="sng">
            <a:noFill/>
            <a:prstDash val="solid"/>
            <a:round/>
          </a:ln>
        </p:spPr>
        <p:txBody>
          <a:bodyPr vert="horz" wrap="square" lIns="0" tIns="0" rIns="0" bIns="0" rtlCol="0" anchor="ctr" anchorCtr="0"/>
          <a:lstStyle/>
          <a:p>
            <a:pPr algn="ctr">
              <a:defRPr/>
            </a:pPr>
          </a:p>
        </p:txBody>
      </p:sp>
      <p:sp>
        <p:nvSpPr>
          <p:cNvPr id="8" name="AutoShape 8"/>
          <p:cNvSpPr/>
          <p:nvPr/>
        </p:nvSpPr>
        <p:spPr>
          <a:xfrm>
            <a:off x="889000" y="2857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医院信息系统 (HIS) · 数字中枢</a:t>
            </a:r>
            <a:endParaRPr lang="en-US" sz="1100"/>
          </a:p>
        </p:txBody>
      </p:sp>
      <p:sp>
        <p:nvSpPr>
          <p:cNvPr id="9" name="AutoShape 9"/>
          <p:cNvSpPr/>
          <p:nvPr/>
        </p:nvSpPr>
        <p:spPr>
          <a:xfrm>
            <a:off x="889000" y="3429000"/>
            <a:ext cx="304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医院运营的“大脑”，HIS全面统筹全业务流程。从患者挂号建档、医生电子诊疗、医嘱自动执行，到药房药品管理、住院结算与医保对接，它打破了传统科室间的物理与信息壁垒，实现了全院核心业务数据的实时归集与统一调度。</a:t>
            </a:r>
            <a:endParaRPr lang="en-US" sz="1100"/>
          </a:p>
        </p:txBody>
      </p:sp>
      <p:sp>
        <p:nvSpPr>
          <p:cNvPr id="10" name="AutoShape 10"/>
          <p:cNvSpPr/>
          <p:nvPr/>
        </p:nvSpPr>
        <p:spPr>
          <a:xfrm>
            <a:off x="4445000" y="2730500"/>
            <a:ext cx="3302000" cy="2286000"/>
          </a:xfrm>
          <a:prstGeom prst="roundRect">
            <a:avLst>
              <a:gd name="adj" fmla="val 0"/>
            </a:avLst>
          </a:prstGeom>
          <a:solidFill>
            <a:srgbClr val="FFFFFF">
              <a:alpha val="94000"/>
            </a:srgbClr>
          </a:solidFill>
          <a:ln w="25400" cap="flat" cmpd="sng">
            <a:noFill/>
            <a:prstDash val="solid"/>
            <a:round/>
          </a:ln>
        </p:spPr>
        <p:txBody>
          <a:bodyPr vert="horz" wrap="square" lIns="0" tIns="0" rIns="0" bIns="0" rtlCol="0" anchor="ctr" anchorCtr="0"/>
          <a:lstStyle/>
          <a:p>
            <a:pPr algn="ctr">
              <a:defRPr/>
            </a:pPr>
          </a:p>
        </p:txBody>
      </p:sp>
      <p:sp>
        <p:nvSpPr>
          <p:cNvPr id="11" name="AutoShape 11"/>
          <p:cNvSpPr/>
          <p:nvPr/>
        </p:nvSpPr>
        <p:spPr>
          <a:xfrm>
            <a:off x="4445000" y="2730500"/>
            <a:ext cx="3302000" cy="50800"/>
          </a:xfrm>
          <a:prstGeom prst="roundRect">
            <a:avLst>
              <a:gd name="adj" fmla="val 0"/>
            </a:avLst>
          </a:prstGeom>
          <a:solidFill>
            <a:srgbClr val="4FD1C5">
              <a:alpha val="100000"/>
            </a:srgbClr>
          </a:solidFill>
          <a:ln w="25400" cap="flat" cmpd="sng">
            <a:noFill/>
            <a:prstDash val="solid"/>
            <a:round/>
          </a:ln>
        </p:spPr>
        <p:txBody>
          <a:bodyPr vert="horz" wrap="square" lIns="0" tIns="0" rIns="0" bIns="0" rtlCol="0" anchor="ctr" anchorCtr="0"/>
          <a:lstStyle/>
          <a:p>
            <a:pPr algn="ctr">
              <a:defRPr/>
            </a:pPr>
          </a:p>
        </p:txBody>
      </p:sp>
      <p:sp>
        <p:nvSpPr>
          <p:cNvPr id="12" name="AutoShape 12"/>
          <p:cNvSpPr/>
          <p:nvPr/>
        </p:nvSpPr>
        <p:spPr>
          <a:xfrm>
            <a:off x="4572000" y="2857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临床检验信息系统 (LIS) · 精准实验室</a:t>
            </a:r>
            <a:endParaRPr lang="en-US" sz="1100"/>
          </a:p>
        </p:txBody>
      </p:sp>
      <p:sp>
        <p:nvSpPr>
          <p:cNvPr id="13" name="AutoShape 13"/>
          <p:cNvSpPr/>
          <p:nvPr/>
        </p:nvSpPr>
        <p:spPr>
          <a:xfrm>
            <a:off x="4572000" y="3429000"/>
            <a:ext cx="304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于检验科的专业操作系统，覆盖样本全生命周期管理。从采集登记、条码流转、自动化仪器联机分析，到结果的智能审核与电子化报告发布，LIS通过标准化的质量控制体系，显著提升了检验效率与结果准确性。</a:t>
            </a:r>
            <a:endParaRPr lang="en-US" sz="1100"/>
          </a:p>
        </p:txBody>
      </p:sp>
      <p:sp>
        <p:nvSpPr>
          <p:cNvPr id="14" name="AutoShape 14"/>
          <p:cNvSpPr/>
          <p:nvPr/>
        </p:nvSpPr>
        <p:spPr>
          <a:xfrm>
            <a:off x="8128000" y="2730500"/>
            <a:ext cx="3302000" cy="2286000"/>
          </a:xfrm>
          <a:prstGeom prst="roundRect">
            <a:avLst>
              <a:gd name="adj" fmla="val 0"/>
            </a:avLst>
          </a:prstGeom>
          <a:solidFill>
            <a:srgbClr val="FFFFFF">
              <a:alpha val="94000"/>
            </a:srgbClr>
          </a:solidFill>
          <a:ln w="25400" cap="flat" cmpd="sng">
            <a:noFill/>
            <a:prstDash val="solid"/>
            <a:round/>
          </a:ln>
        </p:spPr>
        <p:txBody>
          <a:bodyPr vert="horz" wrap="square" lIns="0" tIns="0" rIns="0" bIns="0" rtlCol="0" anchor="ctr" anchorCtr="0"/>
          <a:lstStyle/>
          <a:p>
            <a:pPr algn="ctr">
              <a:defRPr/>
            </a:pPr>
          </a:p>
        </p:txBody>
      </p:sp>
      <p:sp>
        <p:nvSpPr>
          <p:cNvPr id="15" name="AutoShape 15"/>
          <p:cNvSpPr/>
          <p:nvPr/>
        </p:nvSpPr>
        <p:spPr>
          <a:xfrm>
            <a:off x="8128000" y="2730500"/>
            <a:ext cx="3302000" cy="50800"/>
          </a:xfrm>
          <a:prstGeom prst="roundRect">
            <a:avLst>
              <a:gd name="adj" fmla="val 0"/>
            </a:avLst>
          </a:prstGeom>
          <a:solidFill>
            <a:srgbClr val="4FD1C5">
              <a:alpha val="100000"/>
            </a:srgbClr>
          </a:solidFill>
          <a:ln w="25400" cap="flat" cmpd="sng">
            <a:noFill/>
            <a:prstDash val="solid"/>
            <a:round/>
          </a:ln>
        </p:spPr>
        <p:txBody>
          <a:bodyPr vert="horz" wrap="square" lIns="0" tIns="0" rIns="0" bIns="0" rtlCol="0" anchor="ctr" anchorCtr="0"/>
          <a:lstStyle/>
          <a:p>
            <a:pPr algn="ctr">
              <a:defRPr/>
            </a:pPr>
          </a:p>
        </p:txBody>
      </p:sp>
      <p:sp>
        <p:nvSpPr>
          <p:cNvPr id="16" name="AutoShape 16"/>
          <p:cNvSpPr/>
          <p:nvPr/>
        </p:nvSpPr>
        <p:spPr>
          <a:xfrm>
            <a:off x="8255000" y="2857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影像归档与通信系统 (PACS) · 影像中心</a:t>
            </a:r>
            <a:endParaRPr lang="en-US" sz="1100"/>
          </a:p>
        </p:txBody>
      </p:sp>
      <p:sp>
        <p:nvSpPr>
          <p:cNvPr id="17" name="AutoShape 17"/>
          <p:cNvSpPr/>
          <p:nvPr/>
        </p:nvSpPr>
        <p:spPr>
          <a:xfrm>
            <a:off x="8255000" y="3429000"/>
            <a:ext cx="304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1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聚焦于医学影像的数字化管理，覆盖从影像采集、传输、存储到诊断的全流程。它取代了传统胶片，实现了影像的在线调阅与共享，为临床诊断提供了直观、准确的视觉依据，是现代医学影像科的核心。</a:t>
            </a:r>
            <a:endParaRPr lang="en-US" sz="1100"/>
          </a:p>
        </p:txBody>
      </p:sp>
      <p:sp>
        <p:nvSpPr>
          <p:cNvPr id="18" name="AutoShape 18"/>
          <p:cNvSpPr/>
          <p:nvPr/>
        </p:nvSpPr>
        <p:spPr>
          <a:xfrm>
            <a:off x="762000" y="5207000"/>
            <a:ext cx="10668000" cy="1397000"/>
          </a:xfrm>
          <a:prstGeom prst="roundRect">
            <a:avLst>
              <a:gd name="adj" fmla="val 0"/>
            </a:avLst>
          </a:prstGeom>
          <a:solidFill>
            <a:srgbClr val="F0FAF9">
              <a:alpha val="95000"/>
            </a:srgbClr>
          </a:solidFill>
          <a:ln w="25400" cap="flat" cmpd="sng">
            <a:noFill/>
            <a:prstDash val="solid"/>
            <a:round/>
          </a:ln>
        </p:spPr>
        <p:txBody>
          <a:bodyPr vert="horz" wrap="square" lIns="0" tIns="0" rIns="0" bIns="0" rtlCol="0" anchor="ctr" anchorCtr="0"/>
          <a:lstStyle/>
          <a:p>
            <a:pPr algn="ctr">
              <a:defRPr/>
            </a:pPr>
          </a:p>
        </p:txBody>
      </p:sp>
      <p:sp>
        <p:nvSpPr>
          <p:cNvPr id="19" name="AutoShape 19"/>
          <p:cNvSpPr/>
          <p:nvPr/>
        </p:nvSpPr>
        <p:spPr>
          <a:xfrm>
            <a:off x="762000" y="5207000"/>
            <a:ext cx="50800" cy="1397000"/>
          </a:xfrm>
          <a:prstGeom prst="roundRect">
            <a:avLst>
              <a:gd name="adj" fmla="val 0"/>
            </a:avLst>
          </a:prstGeom>
          <a:solidFill>
            <a:srgbClr val="4FD1C5">
              <a:alpha val="70000"/>
            </a:srgbClr>
          </a:solidFill>
          <a:ln w="25400" cap="flat" cmpd="sng">
            <a:noFill/>
            <a:prstDash val="solid"/>
            <a:round/>
          </a:ln>
        </p:spPr>
        <p:txBody>
          <a:bodyPr vert="horz" wrap="square" lIns="0" tIns="0" rIns="0" bIns="0" rtlCol="0" anchor="ctr" anchorCtr="0"/>
          <a:lstStyle/>
          <a:p>
            <a:pPr algn="ctr">
              <a:defRPr/>
            </a:pPr>
          </a:p>
        </p:txBody>
      </p:sp>
      <p:sp>
        <p:nvSpPr>
          <p:cNvPr id="20" name="AutoShape 20"/>
          <p:cNvSpPr/>
          <p:nvPr/>
        </p:nvSpPr>
        <p:spPr>
          <a:xfrm>
            <a:off x="1016000" y="5308600"/>
            <a:ext cx="10160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2C524E"/>
                </a:solidFill>
                <a:latin typeface="Noto Sans SC" panose="020B0200000000000000" charset="-122"/>
                <a:ea typeface="Noto Sans SC" panose="020B0200000000000000" charset="-122"/>
                <a:cs typeface="Noto Sans SC" panose="020B0200000000000000" charset="-122"/>
                <a:sym typeface="Noto Sans SC" panose="020B0200000000000000" charset="-122"/>
              </a:rPr>
              <a:t>HIS、LIS与PACS并非孤立存在，而是通过标准化的HL7、DICOM等接口协议实现深度互联互通。这种无缝协作构成了现代智慧医院的“数据主动脉”，让医嘱数据自动传递、检验结果实时回传、影像资料随时调阅，既减少了人工转录的误差，又加速了诊疗闭环。三者协同工作，将业务流与数据流深度融合，为医院的精细化管理与患者的高效诊疗提供了强大的数字化引擎。</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286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01. 医院信息系统 (HIS) 解析</a:t>
            </a:r>
            <a:endParaRPr lang="en-US" sz="1100"/>
          </a:p>
        </p:txBody>
      </p:sp>
      <p:sp>
        <p:nvSpPr>
          <p:cNvPr id="6" name="AutoShape 6"/>
          <p:cNvSpPr/>
          <p:nvPr/>
        </p:nvSpPr>
        <p:spPr>
          <a:xfrm>
            <a:off x="2042795" y="3771265"/>
            <a:ext cx="806831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1400" b="0" i="0" u="none" strike="noStrike">
                <a:solidFill>
                  <a:srgbClr val="2D3748">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HIS (Hospital Information System) 是医院信息化建设的核心基石，全面覆盖了从患者挂号预约、临床医生诊疗、药房智能发药到门诊住院收费结算的全业务流程。作为连接医院各科室、各业务环节的关键信息枢纽，它不仅承载着全院海量业务数据的流转与存储，更是打通医疗服务堵点、优化就医流程、实现数字化医院建设与智慧医疗升级的底层基础，为医院的高效运营与科学决策提供了强有力的数字化支撑。</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01. 医院信息系统 (HIS) 解析</a:t>
            </a:r>
            <a:endParaRPr lang="en-US" sz="1100"/>
          </a:p>
        </p:txBody>
      </p:sp>
      <p:sp>
        <p:nvSpPr>
          <p:cNvPr id="4" name="AutoShape 4"/>
          <p:cNvSpPr/>
          <p:nvPr/>
        </p:nvSpPr>
        <p:spPr>
          <a:xfrm>
            <a:off x="762000" y="1778000"/>
            <a:ext cx="3429000" cy="3556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3429000" cy="762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2095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核心定义：数字医疗中枢</a:t>
            </a:r>
            <a:endParaRPr lang="en-US" sz="1100"/>
          </a:p>
        </p:txBody>
      </p:sp>
      <p:sp>
        <p:nvSpPr>
          <p:cNvPr id="7" name="AutoShape 7"/>
          <p:cNvSpPr/>
          <p:nvPr/>
        </p:nvSpPr>
        <p:spPr>
          <a:xfrm>
            <a:off x="952500" y="27940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2D3748">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医院信息系统（HIS）是现代化医院运营的核心神经系统。它以财务为核心、临床为导向，实现了从门诊挂号、医生诊疗、药房发药到住院结算等全业务流程的数字化闭环，是连接医疗业务、管理决策与患者服务的关键纽带。</a:t>
            </a:r>
            <a:endParaRPr lang="en-US" sz="1100"/>
          </a:p>
        </p:txBody>
      </p:sp>
      <p:sp>
        <p:nvSpPr>
          <p:cNvPr id="8" name="AutoShape 8"/>
          <p:cNvSpPr/>
          <p:nvPr/>
        </p:nvSpPr>
        <p:spPr>
          <a:xfrm>
            <a:off x="952500" y="4445000"/>
            <a:ext cx="3048000" cy="762000"/>
          </a:xfrm>
          <a:prstGeom prst="roundRect">
            <a:avLst>
              <a:gd name="adj" fmla="val 0"/>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4546600"/>
            <a:ext cx="2794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打破信息孤岛，实现全院业务互联互通</a:t>
            </a:r>
            <a:endParaRPr lang="en-US" sz="1100"/>
          </a:p>
        </p:txBody>
      </p:sp>
      <p:sp>
        <p:nvSpPr>
          <p:cNvPr id="10" name="AutoShape 10"/>
          <p:cNvSpPr/>
          <p:nvPr/>
        </p:nvSpPr>
        <p:spPr>
          <a:xfrm>
            <a:off x="4445000" y="1778000"/>
            <a:ext cx="3429000" cy="3556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445000" y="1778000"/>
            <a:ext cx="3429000" cy="762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635500" y="2095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关键架构：模块化协同</a:t>
            </a:r>
            <a:endParaRPr lang="en-US" sz="1100"/>
          </a:p>
        </p:txBody>
      </p:sp>
      <p:sp>
        <p:nvSpPr>
          <p:cNvPr id="13" name="AutoShape 13"/>
          <p:cNvSpPr/>
          <p:nvPr/>
        </p:nvSpPr>
        <p:spPr>
          <a:xfrm>
            <a:off x="4635500" y="27940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2D3748">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高内聚低耦合的模块化设计，核心包含门诊管理、住院管理、药房药库、医技管理等子系统。通过统一的数据总线进行数据交换，底层依托稳定的数据库支撑海量病历与业务数据的实时读写，确保7x24小时业务连续性。</a:t>
            </a:r>
            <a:endParaRPr lang="en-US" sz="1100"/>
          </a:p>
        </p:txBody>
      </p:sp>
      <p:sp>
        <p:nvSpPr>
          <p:cNvPr id="14" name="AutoShape 14"/>
          <p:cNvSpPr/>
          <p:nvPr/>
        </p:nvSpPr>
        <p:spPr>
          <a:xfrm>
            <a:off x="4635500" y="4445000"/>
            <a:ext cx="3048000" cy="762000"/>
          </a:xfrm>
          <a:prstGeom prst="roundRect">
            <a:avLst>
              <a:gd name="adj" fmla="val 0"/>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762500" y="4546600"/>
            <a:ext cx="2794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灵活配置模块，适配不同规模医院需求</a:t>
            </a:r>
            <a:endParaRPr lang="en-US" sz="1100"/>
          </a:p>
        </p:txBody>
      </p:sp>
      <p:sp>
        <p:nvSpPr>
          <p:cNvPr id="16" name="AutoShape 16"/>
          <p:cNvSpPr/>
          <p:nvPr/>
        </p:nvSpPr>
        <p:spPr>
          <a:xfrm>
            <a:off x="8128000" y="1778000"/>
            <a:ext cx="3429000" cy="3556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128000" y="1778000"/>
            <a:ext cx="3429000" cy="762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8318500" y="2095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核心价值：提质增效赋能</a:t>
            </a:r>
            <a:endParaRPr lang="en-US" sz="1100"/>
          </a:p>
        </p:txBody>
      </p:sp>
      <p:sp>
        <p:nvSpPr>
          <p:cNvPr id="19" name="AutoShape 19"/>
          <p:cNvSpPr/>
          <p:nvPr/>
        </p:nvSpPr>
        <p:spPr>
          <a:xfrm>
            <a:off x="8318500" y="2794000"/>
            <a:ext cx="304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2D3748">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自动化流程替代手工操作，显著缩短患者就医等待时间；为医院管理者提供实时的运营数据看板，辅助科学决策；同时规范医疗行为，减少医疗差错，在提升医疗服务质量的同时，有效降低运营成本，推动医院管理向精细化转型。</a:t>
            </a:r>
            <a:endParaRPr lang="en-US" sz="1100"/>
          </a:p>
        </p:txBody>
      </p:sp>
      <p:sp>
        <p:nvSpPr>
          <p:cNvPr id="20" name="AutoShape 20"/>
          <p:cNvSpPr/>
          <p:nvPr/>
        </p:nvSpPr>
        <p:spPr>
          <a:xfrm>
            <a:off x="8318500" y="4445000"/>
            <a:ext cx="3048000" cy="762000"/>
          </a:xfrm>
          <a:prstGeom prst="roundRect">
            <a:avLst>
              <a:gd name="adj" fmla="val 0"/>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445500" y="4546600"/>
            <a:ext cx="2794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以技术驱动医疗服务体验全面升级</a:t>
            </a:r>
            <a:endParaRPr lang="en-US" sz="1100"/>
          </a:p>
        </p:txBody>
      </p:sp>
      <p:sp>
        <p:nvSpPr>
          <p:cNvPr id="22" name="AutoShape 22"/>
          <p:cNvSpPr/>
          <p:nvPr/>
        </p:nvSpPr>
        <p:spPr>
          <a:xfrm>
            <a:off x="762000" y="5588000"/>
            <a:ext cx="10795000" cy="1016000"/>
          </a:xfrm>
          <a:prstGeom prst="roundRect">
            <a:avLst>
              <a:gd name="adj" fmla="val 0"/>
            </a:avLst>
          </a:prstGeom>
          <a:solidFill>
            <a:srgbClr val="2D3748">
              <a:alpha val="75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1016000" y="5689600"/>
            <a:ext cx="10287000" cy="812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从本质上讲，HIS不仅是一套软件系统，更是医院数字化转型的基石。它将传统的医疗业务流程转化为可被计算机处理和优化的数字模型，为后续的电子病历系统（EMR）、影像归档系统（PACS）以及互联网医疗的发展奠定了坚实的数据与业务基础。</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HIS系统定义与核心功能</a:t>
            </a:r>
            <a:endParaRPr lang="en-US" sz="1100"/>
          </a:p>
        </p:txBody>
      </p:sp>
      <p:sp>
        <p:nvSpPr>
          <p:cNvPr id="4" name="AutoShape 4"/>
          <p:cNvSpPr/>
          <p:nvPr/>
        </p:nvSpPr>
        <p:spPr>
          <a:xfrm>
            <a:off x="762000" y="1397000"/>
            <a:ext cx="10668000" cy="1143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397000"/>
            <a:ext cx="50800" cy="1143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498600"/>
            <a:ext cx="10160000" cy="939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HIS（医院信息系统）是覆盖医院所有核心业务流程的综合性信息管理系统，它串联起医疗服务的各个环节，实现了患者诊疗、资源调配与业务管理的数字化闭环，是现代医院实现高效、规范、智能化运营的技术底座和核心基础设施。</a:t>
            </a:r>
            <a:endParaRPr lang="en-US" sz="1100"/>
          </a:p>
        </p:txBody>
      </p:sp>
      <p:sp>
        <p:nvSpPr>
          <p:cNvPr id="7" name="AutoShape 7"/>
          <p:cNvSpPr/>
          <p:nvPr/>
        </p:nvSpPr>
        <p:spPr>
          <a:xfrm>
            <a:off x="762000" y="2794000"/>
            <a:ext cx="34290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2794000"/>
            <a:ext cx="34290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889000" y="2921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临床业务全流程管理</a:t>
            </a:r>
            <a:endParaRPr lang="en-US" sz="1100"/>
          </a:p>
        </p:txBody>
      </p:sp>
      <p:sp>
        <p:nvSpPr>
          <p:cNvPr id="10" name="AutoShape 10"/>
          <p:cNvSpPr/>
          <p:nvPr/>
        </p:nvSpPr>
        <p:spPr>
          <a:xfrm>
            <a:off x="889000" y="34290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贯穿患者就医全周期，覆盖门急诊挂号、医生工作站、住院管理及电子病历(EMR)书写等核心场景。通过无纸化流转减少等待，规范诊疗行为，让临床服务更高效、更精准。</a:t>
            </a:r>
            <a:endParaRPr lang="en-US" sz="1100"/>
          </a:p>
        </p:txBody>
      </p:sp>
      <p:sp>
        <p:nvSpPr>
          <p:cNvPr id="11" name="AutoShape 11"/>
          <p:cNvSpPr/>
          <p:nvPr/>
        </p:nvSpPr>
        <p:spPr>
          <a:xfrm>
            <a:off x="4445000" y="2794000"/>
            <a:ext cx="34290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445000" y="2794000"/>
            <a:ext cx="34290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572000" y="2921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医疗运营精细管控</a:t>
            </a:r>
            <a:endParaRPr lang="en-US" sz="1100"/>
          </a:p>
        </p:txBody>
      </p:sp>
      <p:sp>
        <p:nvSpPr>
          <p:cNvPr id="14" name="AutoShape 14"/>
          <p:cNvSpPr/>
          <p:nvPr/>
        </p:nvSpPr>
        <p:spPr>
          <a:xfrm>
            <a:off x="4572000" y="34290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涵盖药品物资进销存、门诊住院财务收费、科室成本核算等业务。打通“医-药-财”数据流，实现耗材可追溯、费用日清日结，帮助医院优化资源配置，提升运营效益与财务合规性。</a:t>
            </a:r>
            <a:endParaRPr lang="en-US" sz="1100"/>
          </a:p>
        </p:txBody>
      </p:sp>
      <p:sp>
        <p:nvSpPr>
          <p:cNvPr id="15" name="AutoShape 15"/>
          <p:cNvSpPr/>
          <p:nvPr/>
        </p:nvSpPr>
        <p:spPr>
          <a:xfrm>
            <a:off x="762000" y="4762500"/>
            <a:ext cx="34290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762000" y="4762500"/>
            <a:ext cx="34290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889000" y="4889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医技科室互联协同</a:t>
            </a:r>
            <a:endParaRPr lang="en-US" sz="1100"/>
          </a:p>
        </p:txBody>
      </p:sp>
      <p:sp>
        <p:nvSpPr>
          <p:cNvPr id="18" name="AutoShape 18"/>
          <p:cNvSpPr/>
          <p:nvPr/>
        </p:nvSpPr>
        <p:spPr>
          <a:xfrm>
            <a:off x="889000" y="53975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深度集成LIS（检验）、PACS（影像）、RIS（放射）等专业系统。医嘱直达设备端，检查结果自动回传病历，打破科室壁垒，大幅缩短患者报告等待时间，提升医技科室间的协作效率。</a:t>
            </a:r>
            <a:endParaRPr lang="en-US" sz="1100"/>
          </a:p>
        </p:txBody>
      </p:sp>
      <p:sp>
        <p:nvSpPr>
          <p:cNvPr id="19" name="AutoShape 19"/>
          <p:cNvSpPr/>
          <p:nvPr/>
        </p:nvSpPr>
        <p:spPr>
          <a:xfrm>
            <a:off x="4445000" y="4762500"/>
            <a:ext cx="34290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4445000" y="4762500"/>
            <a:ext cx="34290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4572000" y="4889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数据驱动科学决策</a:t>
            </a:r>
            <a:endParaRPr lang="en-US" sz="1100"/>
          </a:p>
        </p:txBody>
      </p:sp>
      <p:sp>
        <p:nvSpPr>
          <p:cNvPr id="22" name="AutoShape 22"/>
          <p:cNvSpPr/>
          <p:nvPr/>
        </p:nvSpPr>
        <p:spPr>
          <a:xfrm>
            <a:off x="4572000" y="5397500"/>
            <a:ext cx="317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将分散的业务数据转化为可视化的管理驾驶舱，提供院长综合分析、科室运营指标、医疗质量监控等数据看板。让管理者实时掌握医院运行态势，为资源调整、流程优化提供科学的数据支撑。</a:t>
            </a:r>
            <a:endParaRPr lang="en-US" sz="1100"/>
          </a:p>
        </p:txBody>
      </p:sp>
      <p:sp>
        <p:nvSpPr>
          <p:cNvPr id="23" name="AutoShape 23"/>
          <p:cNvSpPr/>
          <p:nvPr/>
        </p:nvSpPr>
        <p:spPr>
          <a:xfrm>
            <a:off x="8128000" y="2794000"/>
            <a:ext cx="3556000" cy="3810000"/>
          </a:xfrm>
          <a:prstGeom prst="roundRect">
            <a:avLst>
              <a:gd name="adj" fmla="val 0"/>
            </a:avLst>
          </a:prstGeom>
          <a:solidFill>
            <a:srgbClr val="4FD1C5">
              <a:alpha val="18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128000" y="2794000"/>
            <a:ext cx="3556000" cy="38100"/>
          </a:xfrm>
          <a:prstGeom prst="roundRect">
            <a:avLst>
              <a:gd name="adj" fmla="val 0"/>
            </a:avLst>
          </a:prstGeom>
          <a:solidFill>
            <a:srgbClr val="148C80">
              <a:alpha val="6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8318500" y="2984500"/>
            <a:ext cx="317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4504B"/>
                </a:solidFill>
                <a:latin typeface="Noto Sans SC" panose="020B0200000000000000" charset="-122"/>
                <a:ea typeface="Noto Sans SC" panose="020B0200000000000000" charset="-122"/>
                <a:cs typeface="Noto Sans SC" panose="020B0200000000000000" charset="-122"/>
                <a:sym typeface="Noto Sans SC" panose="020B0200000000000000" charset="-122"/>
              </a:rPr>
              <a:t>数字化转型基石</a:t>
            </a:r>
            <a:endParaRPr lang="en-US" sz="1100"/>
          </a:p>
        </p:txBody>
      </p:sp>
      <p:sp>
        <p:nvSpPr>
          <p:cNvPr id="26" name="AutoShape 26"/>
          <p:cNvSpPr/>
          <p:nvPr/>
        </p:nvSpPr>
        <p:spPr>
          <a:xfrm>
            <a:off x="8318500" y="3746500"/>
            <a:ext cx="3175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1E323C">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HIS系统不仅是技术工具，更是连接“人、财、物、业务”的核心枢纽。它重塑了医院的业务流程，推动医疗服务从“经验驱动”向“数据驱动”跨越，是构建智慧医院不可或缺的核心引擎。</a:t>
            </a:r>
            <a:endParaRPr lang="en-US" sz="1100"/>
          </a:p>
        </p:txBody>
      </p:sp>
      <p:sp>
        <p:nvSpPr>
          <p:cNvPr id="27" name="AutoShape 27"/>
          <p:cNvSpPr/>
          <p:nvPr/>
        </p:nvSpPr>
        <p:spPr>
          <a:xfrm>
            <a:off x="8318500" y="5461000"/>
            <a:ext cx="3175000" cy="952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8445500" y="5562600"/>
            <a:ext cx="2921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1"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“以患者为中心，以数据为纽带，让医疗服务更有温度，让管理决策更具智慧。”</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HIS核心数据结构：患者主索引表 (PMI)</a:t>
            </a:r>
            <a:endParaRPr lang="en-US" sz="1100"/>
          </a:p>
        </p:txBody>
      </p:sp>
      <p:sp>
        <p:nvSpPr>
          <p:cNvPr id="4" name="AutoShape 4"/>
          <p:cNvSpPr/>
          <p:nvPr/>
        </p:nvSpPr>
        <p:spPr>
          <a:xfrm>
            <a:off x="762000" y="1397000"/>
            <a:ext cx="10668000" cy="1206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524000"/>
            <a:ext cx="1028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患者主索引（PMI）是医院信息系统（HIS）的核心基础，它像患者的“数字身份证”一样，为每位就诊者提供唯一的身份标识（PatientID）。通过这张表，医院可以将挂号、诊疗、医嘱、检验等分散的业务数据串联起来，有效解决了信息重复录入和数据孤岛问题，确保患者在全就诊周期内的信息一致性与连续性。</a:t>
            </a:r>
            <a:endParaRPr lang="en-US" sz="1100"/>
          </a:p>
        </p:txBody>
      </p:sp>
      <p:sp>
        <p:nvSpPr>
          <p:cNvPr id="6" name="AutoShape 6"/>
          <p:cNvSpPr/>
          <p:nvPr/>
        </p:nvSpPr>
        <p:spPr>
          <a:xfrm>
            <a:off x="762000" y="2794000"/>
            <a:ext cx="10668000" cy="3619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graphicFrame>
        <p:nvGraphicFramePr>
          <p:cNvPr id="7" name="Table 7"/>
          <p:cNvGraphicFramePr>
            <a:graphicFrameLocks noGrp="1"/>
          </p:cNvGraphicFramePr>
          <p:nvPr/>
        </p:nvGraphicFramePr>
        <p:xfrm>
          <a:off x="762000" y="2794000"/>
          <a:ext cx="10668000" cy="3340100"/>
        </p:xfrm>
        <a:graphic>
          <a:graphicData uri="http://schemas.openxmlformats.org/drawingml/2006/table">
            <a:tbl>
              <a:tblPr>
                <a:effectLst/>
              </a:tblPr>
              <a:tblGrid>
                <a:gridCol w="2667000"/>
                <a:gridCol w="2032000"/>
                <a:gridCol w="5969000"/>
              </a:tblGrid>
              <a:tr h="698500">
                <a:tc>
                  <a:txBody>
                    <a:bodyPr rtlCol="0"/>
                    <a:lstStyle/>
                    <a:p>
                      <a:pPr marL="0" indent="0" algn="ctr">
                        <a:lnSpc>
                          <a:spcPct val="100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关键字段 (Field Name)</a:t>
                      </a:r>
                      <a:endParaRPr lang="en-US" sz="1100"/>
                    </a:p>
                  </a:txBody>
                  <a:tcPr marL="101600" marR="101600" marT="101600" marB="101600" anchor="t" anchorCtr="0">
                    <a:lnL>
                      <a:noFill/>
                    </a:lnL>
                    <a:lnR>
                      <a:noFill/>
                    </a:lnR>
                    <a:lnT>
                      <a:noFill/>
                    </a:lnT>
                    <a:lnB>
                      <a:noFill/>
                    </a:lnB>
                    <a:solidFill>
                      <a:srgbClr val="4FD1C5">
                        <a:alpha val="95000"/>
                      </a:srgbClr>
                    </a:solidFill>
                  </a:tcPr>
                </a:tc>
                <a:tc>
                  <a:txBody>
                    <a:bodyPr rtlCol="0"/>
                    <a:lstStyle/>
                    <a:p>
                      <a:pPr marL="0" indent="0" algn="ctr">
                        <a:lnSpc>
                          <a:spcPct val="100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数据类型 (Type)</a:t>
                      </a:r>
                      <a:endParaRPr lang="en-US" sz="1100"/>
                    </a:p>
                  </a:txBody>
                  <a:tcPr marL="101600" marR="101600" marT="101600" marB="101600" anchor="t" anchorCtr="0">
                    <a:lnL>
                      <a:noFill/>
                    </a:lnL>
                    <a:lnR>
                      <a:noFill/>
                    </a:lnR>
                    <a:lnT>
                      <a:noFill/>
                    </a:lnT>
                    <a:lnB>
                      <a:noFill/>
                    </a:lnB>
                    <a:solidFill>
                      <a:srgbClr val="4FD1C5">
                        <a:alpha val="95000"/>
                      </a:srgbClr>
                    </a:solidFill>
                  </a:tcPr>
                </a:tc>
                <a:tc>
                  <a:txBody>
                    <a:bodyPr rtlCol="0"/>
                    <a:lstStyle/>
                    <a:p>
                      <a:pPr marL="0" indent="0" algn="ctr">
                        <a:lnSpc>
                          <a:spcPct val="100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业务含义与用途 (Description)</a:t>
                      </a:r>
                      <a:endParaRPr lang="en-US" sz="1100"/>
                    </a:p>
                  </a:txBody>
                  <a:tcPr marL="101600" marR="101600" marT="101600" marB="101600" anchor="t" anchorCtr="0">
                    <a:lnL>
                      <a:noFill/>
                    </a:lnL>
                    <a:lnR>
                      <a:noFill/>
                    </a:lnR>
                    <a:lnT>
                      <a:noFill/>
                    </a:lnT>
                    <a:lnB>
                      <a:noFill/>
                    </a:lnB>
                    <a:solidFill>
                      <a:srgbClr val="4FD1C5">
                        <a:alpha val="95000"/>
                      </a:srgbClr>
                    </a:solidFill>
                  </a:tcPr>
                </a:tc>
              </a:tr>
              <a:tr h="660400">
                <a:tc>
                  <a:txBody>
                    <a:bodyPr rtlCol="0"/>
                    <a:lstStyle/>
                    <a:p>
                      <a:pPr marL="0" indent="0" algn="ctr">
                        <a:lnSpc>
                          <a:spcPct val="100000"/>
                        </a:lnSpc>
                        <a:defRPr/>
                      </a:pPr>
                      <a:r>
                        <a:rPr lang="en-US" sz="1400" b="1" i="0" u="none" strike="noStrike">
                          <a:solidFill>
                            <a:srgbClr val="264653"/>
                          </a:solidFill>
                          <a:latin typeface="Noto Sans SC" panose="020B0200000000000000" charset="-122"/>
                          <a:ea typeface="Noto Sans SC" panose="020B0200000000000000" charset="-122"/>
                          <a:cs typeface="Noto Sans SC" panose="020B0200000000000000" charset="-122"/>
                          <a:sym typeface="Noto Sans SC" panose="020B0200000000000000" charset="-122"/>
                        </a:rPr>
                        <a:t>PatientID</a:t>
                      </a:r>
                      <a:endParaRPr lang="en-US" sz="1100"/>
                    </a:p>
                  </a:txBody>
                  <a:tcPr marL="101600" marR="101600" marT="101600" marB="101600" anchor="t" anchorCtr="0">
                    <a:lnL>
                      <a:noFill/>
                    </a:lnL>
                    <a:lnR>
                      <a:noFill/>
                    </a:lnR>
                    <a:lnT>
                      <a:noFill/>
                    </a:lnT>
                    <a:lnB>
                      <a:noFill/>
                    </a:lnB>
                    <a:solidFill>
                      <a:srgbClr val="4FD1C5">
                        <a:alpha val="18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VARCHAR(50)</a:t>
                      </a:r>
                      <a:endParaRPr lang="en-US" sz="1100"/>
                    </a:p>
                  </a:txBody>
                  <a:tcPr marL="101600" marR="101600" marT="101600" marB="101600" anchor="t" anchorCtr="0">
                    <a:lnL>
                      <a:noFill/>
                    </a:lnL>
                    <a:lnR>
                      <a:noFill/>
                    </a:lnR>
                    <a:lnT>
                      <a:noFill/>
                    </a:lnT>
                    <a:lnB>
                      <a:noFill/>
                    </a:lnB>
                    <a:solidFill>
                      <a:srgbClr val="4FD1C5">
                        <a:alpha val="18000"/>
                      </a:srgbClr>
                    </a:solidFill>
                  </a:tcPr>
                </a:tc>
                <a:tc>
                  <a:txBody>
                    <a:bodyPr rtlCol="0"/>
                    <a:lstStyle/>
                    <a:p>
                      <a:pPr marL="127000" indent="0" algn="ctr">
                        <a:lnSpc>
                          <a:spcPct val="108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系统主键，患者的唯一身份标识。通常映射为医保卡号、身份证号或院内自动生成的唯一编号，是关联所有业务记录的核心纽带。</a:t>
                      </a:r>
                      <a:endParaRPr lang="en-US" sz="1100"/>
                    </a:p>
                  </a:txBody>
                  <a:tcPr marL="101600" marR="101600" marT="101600" marB="101600" anchor="t" anchorCtr="0">
                    <a:lnL>
                      <a:noFill/>
                    </a:lnL>
                    <a:lnR>
                      <a:noFill/>
                    </a:lnR>
                    <a:lnT>
                      <a:noFill/>
                    </a:lnT>
                    <a:lnB>
                      <a:noFill/>
                    </a:lnB>
                    <a:solidFill>
                      <a:srgbClr val="4FD1C5">
                        <a:alpha val="18000"/>
                      </a:srgbClr>
                    </a:solidFill>
                  </a:tcPr>
                </a:tc>
              </a:tr>
              <a:tr h="660400">
                <a:tc>
                  <a:txBody>
                    <a:bodyPr rtlCol="0"/>
                    <a:lstStyle/>
                    <a:p>
                      <a:pPr marL="0" indent="0" algn="ctr">
                        <a:lnSpc>
                          <a:spcPct val="100000"/>
                        </a:lnSpc>
                        <a:defRPr/>
                      </a:pPr>
                      <a:r>
                        <a:rPr lang="en-US" sz="1400" b="1" i="0" u="none" strike="noStrike">
                          <a:solidFill>
                            <a:srgbClr val="264653"/>
                          </a:solidFill>
                          <a:latin typeface="Noto Sans SC" panose="020B0200000000000000" charset="-122"/>
                          <a:ea typeface="Noto Sans SC" panose="020B0200000000000000" charset="-122"/>
                          <a:cs typeface="Noto Sans SC" panose="020B0200000000000000" charset="-122"/>
                          <a:sym typeface="Noto Sans SC" panose="020B0200000000000000" charset="-122"/>
                        </a:rPr>
                        <a:t>Name / IDCardNo</a:t>
                      </a:r>
                      <a:endParaRPr lang="en-US" sz="1100"/>
                    </a:p>
                  </a:txBody>
                  <a:tcPr marL="101600" marR="101600" marT="101600" marB="101600" anchor="t" anchorCtr="0">
                    <a:lnL>
                      <a:noFill/>
                    </a:lnL>
                    <a:lnR>
                      <a:noFill/>
                    </a:lnR>
                    <a:lnT>
                      <a:noFill/>
                    </a:lnT>
                    <a:lnB>
                      <a:noFill/>
                    </a:lnB>
                    <a:solidFill>
                      <a:srgbClr val="F7FAFC">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VARCHAR(100/18)</a:t>
                      </a:r>
                      <a:endParaRPr lang="en-US" sz="1100"/>
                    </a:p>
                  </a:txBody>
                  <a:tcPr marL="101600" marR="101600" marT="101600" marB="101600" anchor="t" anchorCtr="0">
                    <a:lnL>
                      <a:noFill/>
                    </a:lnL>
                    <a:lnR>
                      <a:noFill/>
                    </a:lnR>
                    <a:lnT>
                      <a:noFill/>
                    </a:lnT>
                    <a:lnB>
                      <a:noFill/>
                    </a:lnB>
                    <a:solidFill>
                      <a:srgbClr val="F7FAFC">
                        <a:alpha val="100000"/>
                      </a:srgbClr>
                    </a:solidFill>
                  </a:tcPr>
                </a:tc>
                <a:tc>
                  <a:txBody>
                    <a:bodyPr rtlCol="0"/>
                    <a:lstStyle/>
                    <a:p>
                      <a:pPr marL="127000" indent="0" algn="ctr">
                        <a:lnSpc>
                          <a:spcPct val="108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患者姓名与法定身份证件号码。用于身份核实、医保结算以及在不同医疗场景下的患者精准匹配，确保“人证一致”。</a:t>
                      </a:r>
                      <a:endParaRPr lang="en-US" sz="1100"/>
                    </a:p>
                  </a:txBody>
                  <a:tcPr marL="101600" marR="101600" marT="101600" marB="101600" anchor="t" anchorCtr="0">
                    <a:lnL>
                      <a:noFill/>
                    </a:lnL>
                    <a:lnR>
                      <a:noFill/>
                    </a:lnR>
                    <a:lnT>
                      <a:noFill/>
                    </a:lnT>
                    <a:lnB>
                      <a:noFill/>
                    </a:lnB>
                    <a:solidFill>
                      <a:srgbClr val="F7FAFC">
                        <a:alpha val="100000"/>
                      </a:srgbClr>
                    </a:solidFill>
                  </a:tcPr>
                </a:tc>
              </a:tr>
              <a:tr h="660400">
                <a:tc>
                  <a:txBody>
                    <a:bodyPr rtlCol="0"/>
                    <a:lstStyle/>
                    <a:p>
                      <a:pPr marL="0" indent="0" algn="ctr">
                        <a:lnSpc>
                          <a:spcPct val="100000"/>
                        </a:lnSpc>
                        <a:defRPr/>
                      </a:pPr>
                      <a:r>
                        <a:rPr lang="en-US" sz="1400" b="1" i="0" u="none" strike="noStrike">
                          <a:solidFill>
                            <a:srgbClr val="264653"/>
                          </a:solidFill>
                          <a:latin typeface="Noto Sans SC" panose="020B0200000000000000" charset="-122"/>
                          <a:ea typeface="Noto Sans SC" panose="020B0200000000000000" charset="-122"/>
                          <a:cs typeface="Noto Sans SC" panose="020B0200000000000000" charset="-122"/>
                          <a:sym typeface="Noto Sans SC" panose="020B0200000000000000" charset="-122"/>
                        </a:rPr>
                        <a:t>BirthDate / Gender</a:t>
                      </a:r>
                      <a:endParaRPr lang="en-US" sz="1100"/>
                    </a:p>
                  </a:txBody>
                  <a:tcPr marL="101600" marR="101600" marT="101600" marB="101600" anchor="t" anchorCtr="0">
                    <a:lnL>
                      <a:noFill/>
                    </a:lnL>
                    <a:lnR>
                      <a:noFill/>
                    </a:lnR>
                    <a:lnT>
                      <a:noFill/>
                    </a:lnT>
                    <a:lnB>
                      <a:noFill/>
                    </a:lnB>
                    <a:solidFill>
                      <a:srgbClr val="EBF8F6">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DATE / CHAR(1)</a:t>
                      </a:r>
                      <a:endParaRPr lang="en-US" sz="1100"/>
                    </a:p>
                  </a:txBody>
                  <a:tcPr marL="101600" marR="101600" marT="101600" marB="101600" anchor="t" anchorCtr="0">
                    <a:lnL>
                      <a:noFill/>
                    </a:lnL>
                    <a:lnR>
                      <a:noFill/>
                    </a:lnR>
                    <a:lnT>
                      <a:noFill/>
                    </a:lnT>
                    <a:lnB>
                      <a:noFill/>
                    </a:lnB>
                    <a:solidFill>
                      <a:srgbClr val="EBF8F6">
                        <a:alpha val="100000"/>
                      </a:srgbClr>
                    </a:solidFill>
                  </a:tcPr>
                </a:tc>
                <a:tc>
                  <a:txBody>
                    <a:bodyPr rtlCol="0"/>
                    <a:lstStyle/>
                    <a:p>
                      <a:pPr marL="127000" indent="0" algn="ctr">
                        <a:lnSpc>
                          <a:spcPct val="108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记录患者出生日期与性别（M/F/U）。是临床诊疗参考的基础人口学信息，也用于医保报销政策中的年龄、性别相关判定。</a:t>
                      </a:r>
                      <a:endParaRPr lang="en-US" sz="1100"/>
                    </a:p>
                  </a:txBody>
                  <a:tcPr marL="101600" marR="101600" marT="101600" marB="101600" anchor="t" anchorCtr="0">
                    <a:lnL>
                      <a:noFill/>
                    </a:lnL>
                    <a:lnR>
                      <a:noFill/>
                    </a:lnR>
                    <a:lnT>
                      <a:noFill/>
                    </a:lnT>
                    <a:lnB>
                      <a:noFill/>
                    </a:lnB>
                    <a:solidFill>
                      <a:srgbClr val="EBF8F6">
                        <a:alpha val="100000"/>
                      </a:srgbClr>
                    </a:solidFill>
                  </a:tcPr>
                </a:tc>
              </a:tr>
              <a:tr h="660400">
                <a:tc>
                  <a:txBody>
                    <a:bodyPr rtlCol="0"/>
                    <a:lstStyle/>
                    <a:p>
                      <a:pPr marL="0" indent="0" algn="ctr">
                        <a:lnSpc>
                          <a:spcPct val="100000"/>
                        </a:lnSpc>
                        <a:defRPr/>
                      </a:pPr>
                      <a:r>
                        <a:rPr lang="en-US" sz="1400" b="1" i="0" u="none" strike="noStrike">
                          <a:solidFill>
                            <a:srgbClr val="264653"/>
                          </a:solidFill>
                          <a:latin typeface="Noto Sans SC" panose="020B0200000000000000" charset="-122"/>
                          <a:ea typeface="Noto Sans SC" panose="020B0200000000000000" charset="-122"/>
                          <a:cs typeface="Noto Sans SC" panose="020B0200000000000000" charset="-122"/>
                          <a:sym typeface="Noto Sans SC" panose="020B0200000000000000" charset="-122"/>
                        </a:rPr>
                        <a:t>Create / UpdateTime</a:t>
                      </a:r>
                      <a:endParaRPr lang="en-US" sz="1100"/>
                    </a:p>
                  </a:txBody>
                  <a:tcPr marL="101600" marR="101600" marT="101600" marB="101600" anchor="t" anchorCtr="0">
                    <a:lnL>
                      <a:noFill/>
                    </a:lnL>
                    <a:lnR>
                      <a:noFill/>
                    </a:lnR>
                    <a:lnT>
                      <a:noFill/>
                    </a:lnT>
                    <a:lnB>
                      <a:noFill/>
                    </a:lnB>
                    <a:solidFill>
                      <a:srgbClr val="F7FAFC">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DATETIME</a:t>
                      </a:r>
                      <a:endParaRPr lang="en-US" sz="1100"/>
                    </a:p>
                  </a:txBody>
                  <a:tcPr marL="101600" marR="101600" marT="101600" marB="101600" anchor="t" anchorCtr="0">
                    <a:lnL>
                      <a:noFill/>
                    </a:lnL>
                    <a:lnR>
                      <a:noFill/>
                    </a:lnR>
                    <a:lnT>
                      <a:noFill/>
                    </a:lnT>
                    <a:lnB>
                      <a:noFill/>
                    </a:lnB>
                    <a:solidFill>
                      <a:srgbClr val="F7FAFC">
                        <a:alpha val="100000"/>
                      </a:srgbClr>
                    </a:solidFill>
                  </a:tcPr>
                </a:tc>
                <a:tc>
                  <a:txBody>
                    <a:bodyPr rtlCol="0"/>
                    <a:lstStyle/>
                    <a:p>
                      <a:pPr marL="127000" indent="0" algn="ctr">
                        <a:lnSpc>
                          <a:spcPct val="108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数据生命周期管理字段。记录患者档案首次创建的时间点，以及最后一次信息更新的时间，用于数据溯源与时效性判断。</a:t>
                      </a:r>
                      <a:endParaRPr lang="en-US" sz="1100"/>
                    </a:p>
                  </a:txBody>
                  <a:tcPr marL="101600" marR="101600" marT="101600" marB="101600" anchor="t" anchorCtr="0">
                    <a:lnL>
                      <a:noFill/>
                    </a:lnL>
                    <a:lnR>
                      <a:noFill/>
                    </a:lnR>
                    <a:lnT>
                      <a:noFill/>
                    </a:lnT>
                    <a:lnB>
                      <a:noFill/>
                    </a:lnB>
                    <a:solidFill>
                      <a:srgbClr val="F7FAFC">
                        <a:alpha val="100000"/>
                      </a:srgbClr>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HIS核心数据结构：挂号与医嘱</a:t>
            </a:r>
            <a:endParaRPr lang="en-US" sz="1100"/>
          </a:p>
        </p:txBody>
      </p:sp>
      <p:sp>
        <p:nvSpPr>
          <p:cNvPr id="4" name="AutoShape 4"/>
          <p:cNvSpPr/>
          <p:nvPr/>
        </p:nvSpPr>
        <p:spPr>
          <a:xfrm>
            <a:off x="762000" y="1397000"/>
            <a:ext cx="5270500" cy="4953000"/>
          </a:xfrm>
          <a:prstGeom prst="roundRect">
            <a:avLst>
              <a:gd name="adj" fmla="val 0"/>
            </a:avLst>
          </a:prstGeom>
          <a:solidFill>
            <a:srgbClr val="FFFFFF">
              <a:alpha val="92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397000"/>
            <a:ext cx="52705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587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挂号信息表 (Registration)</a:t>
            </a:r>
            <a:endParaRPr lang="en-US" sz="1100"/>
          </a:p>
        </p:txBody>
      </p:sp>
      <p:sp>
        <p:nvSpPr>
          <p:cNvPr id="7" name="AutoShape 7"/>
          <p:cNvSpPr/>
          <p:nvPr/>
        </p:nvSpPr>
        <p:spPr>
          <a:xfrm>
            <a:off x="952500" y="2095500"/>
            <a:ext cx="4889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记录患者每次就诊的挂号信息，是连接患者与本次诊疗活动的关键桥梁，承载了就诊的核心业务上下文。</a:t>
            </a:r>
            <a:endParaRPr lang="en-US" sz="1100"/>
          </a:p>
        </p:txBody>
      </p:sp>
      <p:graphicFrame>
        <p:nvGraphicFramePr>
          <p:cNvPr id="8" name="Table 8"/>
          <p:cNvGraphicFramePr>
            <a:graphicFrameLocks noGrp="1"/>
          </p:cNvGraphicFramePr>
          <p:nvPr/>
        </p:nvGraphicFramePr>
        <p:xfrm>
          <a:off x="952500" y="2984500"/>
          <a:ext cx="4953000" cy="2209800"/>
        </p:xfrm>
        <a:graphic>
          <a:graphicData uri="http://schemas.openxmlformats.org/drawingml/2006/table">
            <a:tbl>
              <a:tblPr>
                <a:effectLst/>
              </a:tblPr>
              <a:tblGrid>
                <a:gridCol w="1460500"/>
                <a:gridCol w="1333500"/>
                <a:gridCol w="2159000"/>
              </a:tblGrid>
              <a:tr h="482600">
                <a:tc>
                  <a:txBody>
                    <a:bodyPr rtlCol="0"/>
                    <a:lstStyle/>
                    <a:p>
                      <a:pPr marL="0" indent="0" algn="ctr">
                        <a:lnSpc>
                          <a:spcPct val="100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字段名</a:t>
                      </a:r>
                      <a:endParaRPr lang="en-US" sz="1100"/>
                    </a:p>
                  </a:txBody>
                  <a:tcPr marL="101600" marR="101600" marT="101600" marB="101600" anchor="t" anchorCtr="0">
                    <a:lnL>
                      <a:noFill/>
                    </a:lnL>
                    <a:lnR>
                      <a:noFill/>
                    </a:lnR>
                    <a:lnT>
                      <a:noFill/>
                    </a:lnT>
                    <a:lnB>
                      <a:noFill/>
                    </a:lnB>
                    <a:solidFill>
                      <a:srgbClr val="4FD1C5">
                        <a:alpha val="18000"/>
                      </a:srgbClr>
                    </a:solidFill>
                  </a:tcPr>
                </a:tc>
                <a:tc>
                  <a:txBody>
                    <a:bodyPr rtlCol="0"/>
                    <a:lstStyle/>
                    <a:p>
                      <a:pPr marL="0" indent="0" algn="ctr">
                        <a:lnSpc>
                          <a:spcPct val="100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数据类型</a:t>
                      </a:r>
                      <a:endParaRPr lang="en-US" sz="1100"/>
                    </a:p>
                  </a:txBody>
                  <a:tcPr marL="101600" marR="101600" marT="101600" marB="101600" anchor="t" anchorCtr="0">
                    <a:lnL>
                      <a:noFill/>
                    </a:lnL>
                    <a:lnR>
                      <a:noFill/>
                    </a:lnR>
                    <a:lnT>
                      <a:noFill/>
                    </a:lnT>
                    <a:lnB>
                      <a:noFill/>
                    </a:lnB>
                    <a:solidFill>
                      <a:srgbClr val="4FD1C5">
                        <a:alpha val="18000"/>
                      </a:srgbClr>
                    </a:solidFill>
                  </a:tcPr>
                </a:tc>
                <a:tc>
                  <a:txBody>
                    <a:bodyPr rtlCol="0"/>
                    <a:lstStyle/>
                    <a:p>
                      <a:pPr marL="0" indent="0" algn="ctr">
                        <a:lnSpc>
                          <a:spcPct val="100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业务说明</a:t>
                      </a:r>
                      <a:endParaRPr lang="en-US" sz="1100"/>
                    </a:p>
                  </a:txBody>
                  <a:tcPr marL="101600" marR="101600" marT="101600" marB="101600" anchor="t" anchorCtr="0">
                    <a:lnL>
                      <a:noFill/>
                    </a:lnL>
                    <a:lnR>
                      <a:noFill/>
                    </a:lnR>
                    <a:lnT>
                      <a:noFill/>
                    </a:lnT>
                    <a:lnB>
                      <a:noFill/>
                    </a:lnB>
                    <a:solidFill>
                      <a:srgbClr val="4FD1C5">
                        <a:alpha val="18000"/>
                      </a:srgbClr>
                    </a:solidFill>
                  </a:tcPr>
                </a:tc>
              </a:tr>
              <a:tr h="431800">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RegID</a:t>
                      </a:r>
                      <a:endParaRPr lang="en-US" sz="1100"/>
                    </a:p>
                  </a:txBody>
                  <a:tcPr marL="101600" marR="101600" marT="101600" marB="101600" anchor="t" anchorCtr="0">
                    <a:lnL>
                      <a:noFill/>
                    </a:lnL>
                    <a:lnR>
                      <a:noFill/>
                    </a:lnR>
                    <a:lnT>
                      <a:noFill/>
                    </a:lnT>
                    <a:lnB>
                      <a:noFill/>
                    </a:lnB>
                    <a:solidFill>
                      <a:srgbClr val="F0FAF9">
                        <a:alpha val="100000"/>
                      </a:srgbClr>
                    </a:solidFill>
                  </a:tcPr>
                </a:tc>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INT</a:t>
                      </a:r>
                      <a:endParaRPr lang="en-US" sz="1100"/>
                    </a:p>
                  </a:txBody>
                  <a:tcPr marL="101600" marR="101600" marT="101600" marB="101600" anchor="t" anchorCtr="0">
                    <a:lnL>
                      <a:noFill/>
                    </a:lnL>
                    <a:lnR>
                      <a:noFill/>
                    </a:lnR>
                    <a:lnT>
                      <a:noFill/>
                    </a:lnT>
                    <a:lnB>
                      <a:noFill/>
                    </a:lnB>
                    <a:solidFill>
                      <a:srgbClr val="F0FAF9">
                        <a:alpha val="100000"/>
                      </a:srgbClr>
                    </a:solidFill>
                  </a:tcPr>
                </a:tc>
                <a:tc>
                  <a:txBody>
                    <a:bodyPr rtlCol="0"/>
                    <a:lstStyle/>
                    <a:p>
                      <a:pPr marL="63500" indent="0" algn="l">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主键，唯一标识本次挂号记录</a:t>
                      </a:r>
                      <a:endParaRPr lang="en-US" sz="1100"/>
                    </a:p>
                  </a:txBody>
                  <a:tcPr marL="101600" marR="101600" marT="101600" marB="101600" anchor="t" anchorCtr="0">
                    <a:lnL>
                      <a:noFill/>
                    </a:lnL>
                    <a:lnR>
                      <a:noFill/>
                    </a:lnR>
                    <a:lnT>
                      <a:noFill/>
                    </a:lnT>
                    <a:lnB>
                      <a:noFill/>
                    </a:lnB>
                    <a:solidFill>
                      <a:srgbClr val="F0FAF9">
                        <a:alpha val="100000"/>
                      </a:srgbClr>
                    </a:solidFill>
                  </a:tcPr>
                </a:tc>
              </a:tr>
              <a:tr h="431800">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PatientID</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VARCHAR(50)</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63500" indent="0" algn="l">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外键，关联患者主索引基础信息</a:t>
                      </a:r>
                      <a:endParaRPr lang="en-US" sz="1100"/>
                    </a:p>
                  </a:txBody>
                  <a:tcPr marL="101600" marR="101600" marT="101600" marB="101600" anchor="t" anchorCtr="0">
                    <a:lnL>
                      <a:noFill/>
                    </a:lnL>
                    <a:lnR>
                      <a:noFill/>
                    </a:lnR>
                    <a:lnT>
                      <a:noFill/>
                    </a:lnT>
                    <a:lnB>
                      <a:noFill/>
                    </a:lnB>
                    <a:solidFill>
                      <a:srgbClr val="FFFFFF">
                        <a:alpha val="100000"/>
                      </a:srgbClr>
                    </a:solidFill>
                  </a:tcPr>
                </a:tc>
              </a:tr>
              <a:tr h="431800">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DeptCode</a:t>
                      </a:r>
                      <a:endParaRPr lang="en-US" sz="1100"/>
                    </a:p>
                  </a:txBody>
                  <a:tcPr marL="101600" marR="101600" marT="101600" marB="101600" anchor="t" anchorCtr="0">
                    <a:lnL>
                      <a:noFill/>
                    </a:lnL>
                    <a:lnR>
                      <a:noFill/>
                    </a:lnR>
                    <a:lnT>
                      <a:noFill/>
                    </a:lnT>
                    <a:lnB>
                      <a:noFill/>
                    </a:lnB>
                    <a:solidFill>
                      <a:srgbClr val="F0FAF9">
                        <a:alpha val="100000"/>
                      </a:srgbClr>
                    </a:solidFill>
                  </a:tcPr>
                </a:tc>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VARCHAR(20)</a:t>
                      </a:r>
                      <a:endParaRPr lang="en-US" sz="1100"/>
                    </a:p>
                  </a:txBody>
                  <a:tcPr marL="101600" marR="101600" marT="101600" marB="101600" anchor="t" anchorCtr="0">
                    <a:lnL>
                      <a:noFill/>
                    </a:lnL>
                    <a:lnR>
                      <a:noFill/>
                    </a:lnR>
                    <a:lnT>
                      <a:noFill/>
                    </a:lnT>
                    <a:lnB>
                      <a:noFill/>
                    </a:lnB>
                    <a:solidFill>
                      <a:srgbClr val="F0FAF9">
                        <a:alpha val="100000"/>
                      </a:srgbClr>
                    </a:solidFill>
                  </a:tcPr>
                </a:tc>
                <a:tc>
                  <a:txBody>
                    <a:bodyPr rtlCol="0"/>
                    <a:lstStyle/>
                    <a:p>
                      <a:pPr marL="63500" indent="0" algn="l">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就诊科室代码，定位业务归属</a:t>
                      </a:r>
                      <a:endParaRPr lang="en-US" sz="1100"/>
                    </a:p>
                  </a:txBody>
                  <a:tcPr marL="101600" marR="101600" marT="101600" marB="101600" anchor="t" anchorCtr="0">
                    <a:lnL>
                      <a:noFill/>
                    </a:lnL>
                    <a:lnR>
                      <a:noFill/>
                    </a:lnR>
                    <a:lnT>
                      <a:noFill/>
                    </a:lnT>
                    <a:lnB>
                      <a:noFill/>
                    </a:lnB>
                    <a:solidFill>
                      <a:srgbClr val="F0FAF9">
                        <a:alpha val="100000"/>
                      </a:srgbClr>
                    </a:solidFill>
                  </a:tcPr>
                </a:tc>
              </a:tr>
              <a:tr h="431800">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Status</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VARCHAR(20)</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63500" indent="0" algn="l">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状态：已挂号、已就诊、已结算等</a:t>
                      </a:r>
                      <a:endParaRPr lang="en-US" sz="1100"/>
                    </a:p>
                  </a:txBody>
                  <a:tcPr marL="101600" marR="101600" marT="101600" marB="101600" anchor="t" anchorCtr="0">
                    <a:lnL>
                      <a:noFill/>
                    </a:lnL>
                    <a:lnR>
                      <a:noFill/>
                    </a:lnR>
                    <a:lnT>
                      <a:noFill/>
                    </a:lnT>
                    <a:lnB>
                      <a:noFill/>
                    </a:lnB>
                    <a:solidFill>
                      <a:srgbClr val="FFFFFF">
                        <a:alpha val="100000"/>
                      </a:srgbClr>
                    </a:solidFill>
                  </a:tcPr>
                </a:tc>
              </a:tr>
            </a:tbl>
          </a:graphicData>
        </a:graphic>
      </p:graphicFrame>
      <p:sp>
        <p:nvSpPr>
          <p:cNvPr id="9" name="AutoShape 9"/>
          <p:cNvSpPr/>
          <p:nvPr/>
        </p:nvSpPr>
        <p:spPr>
          <a:xfrm>
            <a:off x="6286500" y="1397000"/>
            <a:ext cx="5270500" cy="4953000"/>
          </a:xfrm>
          <a:prstGeom prst="roundRect">
            <a:avLst>
              <a:gd name="adj" fmla="val 0"/>
            </a:avLst>
          </a:prstGeom>
          <a:solidFill>
            <a:srgbClr val="FFFFFF">
              <a:alpha val="92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6286500" y="1397000"/>
            <a:ext cx="52705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6477000" y="1587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医嘱信息表 (MedicalOrder)</a:t>
            </a:r>
            <a:endParaRPr lang="en-US" sz="1100"/>
          </a:p>
        </p:txBody>
      </p:sp>
      <p:sp>
        <p:nvSpPr>
          <p:cNvPr id="12" name="AutoShape 12"/>
          <p:cNvSpPr/>
          <p:nvPr/>
        </p:nvSpPr>
        <p:spPr>
          <a:xfrm>
            <a:off x="6477000" y="2095500"/>
            <a:ext cx="4889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记录医生为患者下达的各类诊疗指令，是临床护士执行任务和后续产生费用的法定原始依据，贯穿诊疗全过程。</a:t>
            </a:r>
            <a:endParaRPr lang="en-US" sz="1100"/>
          </a:p>
        </p:txBody>
      </p:sp>
      <p:graphicFrame>
        <p:nvGraphicFramePr>
          <p:cNvPr id="13" name="Table 13"/>
          <p:cNvGraphicFramePr>
            <a:graphicFrameLocks noGrp="1"/>
          </p:cNvGraphicFramePr>
          <p:nvPr/>
        </p:nvGraphicFramePr>
        <p:xfrm>
          <a:off x="6477000" y="2984500"/>
          <a:ext cx="4953000" cy="2209800"/>
        </p:xfrm>
        <a:graphic>
          <a:graphicData uri="http://schemas.openxmlformats.org/drawingml/2006/table">
            <a:tbl>
              <a:tblPr>
                <a:effectLst/>
              </a:tblPr>
              <a:tblGrid>
                <a:gridCol w="1460500"/>
                <a:gridCol w="1333500"/>
                <a:gridCol w="2159000"/>
              </a:tblGrid>
              <a:tr h="482600">
                <a:tc>
                  <a:txBody>
                    <a:bodyPr rtlCol="0"/>
                    <a:lstStyle/>
                    <a:p>
                      <a:pPr marL="0" indent="0" algn="ctr">
                        <a:lnSpc>
                          <a:spcPct val="100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字段名</a:t>
                      </a:r>
                      <a:endParaRPr lang="en-US" sz="1100"/>
                    </a:p>
                  </a:txBody>
                  <a:tcPr marL="101600" marR="101600" marT="101600" marB="101600" anchor="t" anchorCtr="0">
                    <a:lnL>
                      <a:noFill/>
                    </a:lnL>
                    <a:lnR>
                      <a:noFill/>
                    </a:lnR>
                    <a:lnT>
                      <a:noFill/>
                    </a:lnT>
                    <a:lnB>
                      <a:noFill/>
                    </a:lnB>
                    <a:solidFill>
                      <a:srgbClr val="4FD1C5">
                        <a:alpha val="18000"/>
                      </a:srgbClr>
                    </a:solidFill>
                  </a:tcPr>
                </a:tc>
                <a:tc>
                  <a:txBody>
                    <a:bodyPr rtlCol="0"/>
                    <a:lstStyle/>
                    <a:p>
                      <a:pPr marL="0" indent="0" algn="ctr">
                        <a:lnSpc>
                          <a:spcPct val="100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数据类型</a:t>
                      </a:r>
                      <a:endParaRPr lang="en-US" sz="1100"/>
                    </a:p>
                  </a:txBody>
                  <a:tcPr marL="101600" marR="101600" marT="101600" marB="101600" anchor="t" anchorCtr="0">
                    <a:lnL>
                      <a:noFill/>
                    </a:lnL>
                    <a:lnR>
                      <a:noFill/>
                    </a:lnR>
                    <a:lnT>
                      <a:noFill/>
                    </a:lnT>
                    <a:lnB>
                      <a:noFill/>
                    </a:lnB>
                    <a:solidFill>
                      <a:srgbClr val="4FD1C5">
                        <a:alpha val="18000"/>
                      </a:srgbClr>
                    </a:solidFill>
                  </a:tcPr>
                </a:tc>
                <a:tc>
                  <a:txBody>
                    <a:bodyPr rtlCol="0"/>
                    <a:lstStyle/>
                    <a:p>
                      <a:pPr marL="0" indent="0" algn="ctr">
                        <a:lnSpc>
                          <a:spcPct val="100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业务说明</a:t>
                      </a:r>
                      <a:endParaRPr lang="en-US" sz="1100"/>
                    </a:p>
                  </a:txBody>
                  <a:tcPr marL="101600" marR="101600" marT="101600" marB="101600" anchor="t" anchorCtr="0">
                    <a:lnL>
                      <a:noFill/>
                    </a:lnL>
                    <a:lnR>
                      <a:noFill/>
                    </a:lnR>
                    <a:lnT>
                      <a:noFill/>
                    </a:lnT>
                    <a:lnB>
                      <a:noFill/>
                    </a:lnB>
                    <a:solidFill>
                      <a:srgbClr val="4FD1C5">
                        <a:alpha val="18000"/>
                      </a:srgbClr>
                    </a:solidFill>
                  </a:tcPr>
                </a:tc>
              </a:tr>
              <a:tr h="431800">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OrderID</a:t>
                      </a:r>
                      <a:endParaRPr lang="en-US" sz="1100"/>
                    </a:p>
                  </a:txBody>
                  <a:tcPr marL="101600" marR="101600" marT="101600" marB="101600" anchor="t" anchorCtr="0">
                    <a:lnL>
                      <a:noFill/>
                    </a:lnL>
                    <a:lnR>
                      <a:noFill/>
                    </a:lnR>
                    <a:lnT>
                      <a:noFill/>
                    </a:lnT>
                    <a:lnB>
                      <a:noFill/>
                    </a:lnB>
                    <a:solidFill>
                      <a:srgbClr val="F0FAF9">
                        <a:alpha val="100000"/>
                      </a:srgbClr>
                    </a:solidFill>
                  </a:tcPr>
                </a:tc>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INT</a:t>
                      </a:r>
                      <a:endParaRPr lang="en-US" sz="1100"/>
                    </a:p>
                  </a:txBody>
                  <a:tcPr marL="101600" marR="101600" marT="101600" marB="101600" anchor="t" anchorCtr="0">
                    <a:lnL>
                      <a:noFill/>
                    </a:lnL>
                    <a:lnR>
                      <a:noFill/>
                    </a:lnR>
                    <a:lnT>
                      <a:noFill/>
                    </a:lnT>
                    <a:lnB>
                      <a:noFill/>
                    </a:lnB>
                    <a:solidFill>
                      <a:srgbClr val="F0FAF9">
                        <a:alpha val="100000"/>
                      </a:srgbClr>
                    </a:solidFill>
                  </a:tcPr>
                </a:tc>
                <a:tc>
                  <a:txBody>
                    <a:bodyPr rtlCol="0"/>
                    <a:lstStyle/>
                    <a:p>
                      <a:pPr marL="63500" indent="0" algn="l">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主键，唯一标识单条医嘱内容</a:t>
                      </a:r>
                      <a:endParaRPr lang="en-US" sz="1100"/>
                    </a:p>
                  </a:txBody>
                  <a:tcPr marL="101600" marR="101600" marT="101600" marB="101600" anchor="t" anchorCtr="0">
                    <a:lnL>
                      <a:noFill/>
                    </a:lnL>
                    <a:lnR>
                      <a:noFill/>
                    </a:lnR>
                    <a:lnT>
                      <a:noFill/>
                    </a:lnT>
                    <a:lnB>
                      <a:noFill/>
                    </a:lnB>
                    <a:solidFill>
                      <a:srgbClr val="F0FAF9">
                        <a:alpha val="100000"/>
                      </a:srgbClr>
                    </a:solidFill>
                  </a:tcPr>
                </a:tc>
              </a:tr>
              <a:tr h="431800">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RegID</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INT</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63500" indent="0" algn="l">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外键，关联本次就诊的挂号单</a:t>
                      </a:r>
                      <a:endParaRPr lang="en-US" sz="1100"/>
                    </a:p>
                  </a:txBody>
                  <a:tcPr marL="101600" marR="101600" marT="101600" marB="101600" anchor="t" anchorCtr="0">
                    <a:lnL>
                      <a:noFill/>
                    </a:lnL>
                    <a:lnR>
                      <a:noFill/>
                    </a:lnR>
                    <a:lnT>
                      <a:noFill/>
                    </a:lnT>
                    <a:lnB>
                      <a:noFill/>
                    </a:lnB>
                    <a:solidFill>
                      <a:srgbClr val="FFFFFF">
                        <a:alpha val="100000"/>
                      </a:srgbClr>
                    </a:solidFill>
                  </a:tcPr>
                </a:tc>
              </a:tr>
              <a:tr h="431800">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OrderType</a:t>
                      </a:r>
                      <a:endParaRPr lang="en-US" sz="1100"/>
                    </a:p>
                  </a:txBody>
                  <a:tcPr marL="101600" marR="101600" marT="101600" marB="101600" anchor="t" anchorCtr="0">
                    <a:lnL>
                      <a:noFill/>
                    </a:lnL>
                    <a:lnR>
                      <a:noFill/>
                    </a:lnR>
                    <a:lnT>
                      <a:noFill/>
                    </a:lnT>
                    <a:lnB>
                      <a:noFill/>
                    </a:lnB>
                    <a:solidFill>
                      <a:srgbClr val="F0FAF9">
                        <a:alpha val="100000"/>
                      </a:srgbClr>
                    </a:solidFill>
                  </a:tcPr>
                </a:tc>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VARCHAR(20)</a:t>
                      </a:r>
                      <a:endParaRPr lang="en-US" sz="1100"/>
                    </a:p>
                  </a:txBody>
                  <a:tcPr marL="101600" marR="101600" marT="101600" marB="101600" anchor="t" anchorCtr="0">
                    <a:lnL>
                      <a:noFill/>
                    </a:lnL>
                    <a:lnR>
                      <a:noFill/>
                    </a:lnR>
                    <a:lnT>
                      <a:noFill/>
                    </a:lnT>
                    <a:lnB>
                      <a:noFill/>
                    </a:lnB>
                    <a:solidFill>
                      <a:srgbClr val="F0FAF9">
                        <a:alpha val="100000"/>
                      </a:srgbClr>
                    </a:solidFill>
                  </a:tcPr>
                </a:tc>
                <a:tc>
                  <a:txBody>
                    <a:bodyPr rtlCol="0"/>
                    <a:lstStyle/>
                    <a:p>
                      <a:pPr marL="63500" indent="0" algn="l">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分类：药品、检验、检查、处置等</a:t>
                      </a:r>
                      <a:endParaRPr lang="en-US" sz="1100"/>
                    </a:p>
                  </a:txBody>
                  <a:tcPr marL="101600" marR="101600" marT="101600" marB="101600" anchor="t" anchorCtr="0">
                    <a:lnL>
                      <a:noFill/>
                    </a:lnL>
                    <a:lnR>
                      <a:noFill/>
                    </a:lnR>
                    <a:lnT>
                      <a:noFill/>
                    </a:lnT>
                    <a:lnB>
                      <a:noFill/>
                    </a:lnB>
                    <a:solidFill>
                      <a:srgbClr val="F0FAF9">
                        <a:alpha val="100000"/>
                      </a:srgbClr>
                    </a:solidFill>
                  </a:tcPr>
                </a:tc>
              </a:tr>
              <a:tr h="431800">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ExecuteStatus</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0000"/>
                        </a:lnSpc>
                        <a:defRPr/>
                      </a:pPr>
                      <a:r>
                        <a:rPr lang="en-US" sz="12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VARCHAR(20)</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63500" indent="0" algn="l">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执行进度：已开立、执行中、已完成</a:t>
                      </a:r>
                      <a:endParaRPr lang="en-US" sz="1100"/>
                    </a:p>
                  </a:txBody>
                  <a:tcPr marL="101600" marR="101600" marT="101600" marB="101600" anchor="t" anchorCtr="0">
                    <a:lnL>
                      <a:noFill/>
                    </a:lnL>
                    <a:lnR>
                      <a:noFill/>
                    </a:lnR>
                    <a:lnT>
                      <a:noFill/>
                    </a:lnT>
                    <a:lnB>
                      <a:noFill/>
                    </a:lnB>
                    <a:solidFill>
                      <a:srgbClr val="FFFFFF">
                        <a:alpha val="100000"/>
                      </a:srgbClr>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HIS核心数据结构：处方信息表</a:t>
            </a:r>
            <a:endParaRPr lang="en-US" sz="1100"/>
          </a:p>
        </p:txBody>
      </p:sp>
      <p:sp>
        <p:nvSpPr>
          <p:cNvPr id="4" name="AutoShape 4"/>
          <p:cNvSpPr/>
          <p:nvPr/>
        </p:nvSpPr>
        <p:spPr>
          <a:xfrm>
            <a:off x="762000" y="1397000"/>
            <a:ext cx="10668000" cy="10160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498600"/>
            <a:ext cx="10287000" cy="812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2D3748">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专门记录药品处方的详细执行信息，是系统中连接医嘱与药房业务的关键枢纽。该表通过唯一标识与医嘱表建立强关联，不仅是药房药师进行药品调配、发药作业的核心依据，也是门诊与住院收费系统核算药品费用的重要数据来源。</a:t>
            </a:r>
            <a:endParaRPr lang="en-US" sz="1100"/>
          </a:p>
        </p:txBody>
      </p:sp>
      <p:sp>
        <p:nvSpPr>
          <p:cNvPr id="6" name="AutoShape 6"/>
          <p:cNvSpPr/>
          <p:nvPr/>
        </p:nvSpPr>
        <p:spPr>
          <a:xfrm>
            <a:off x="762000" y="2667000"/>
            <a:ext cx="10668000" cy="3556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graphicFrame>
        <p:nvGraphicFramePr>
          <p:cNvPr id="7" name="Table 7"/>
          <p:cNvGraphicFramePr>
            <a:graphicFrameLocks noGrp="1"/>
          </p:cNvGraphicFramePr>
          <p:nvPr/>
        </p:nvGraphicFramePr>
        <p:xfrm>
          <a:off x="762000" y="2667000"/>
          <a:ext cx="10668000" cy="3429000"/>
        </p:xfrm>
        <a:graphic>
          <a:graphicData uri="http://schemas.openxmlformats.org/drawingml/2006/table">
            <a:tbl>
              <a:tblPr>
                <a:effectLst/>
              </a:tblPr>
              <a:tblGrid>
                <a:gridCol w="2667000"/>
                <a:gridCol w="2286000"/>
                <a:gridCol w="5715000"/>
              </a:tblGrid>
              <a:tr h="571500">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字段名 (Field Name)</a:t>
                      </a:r>
                      <a:endParaRPr lang="en-US" sz="1100"/>
                    </a:p>
                  </a:txBody>
                  <a:tcPr marL="101600" marR="101600" marT="101600" marB="101600" anchor="t" anchorCtr="0">
                    <a:lnL>
                      <a:noFill/>
                    </a:lnL>
                    <a:lnR>
                      <a:noFill/>
                    </a:lnR>
                    <a:lnT>
                      <a:noFill/>
                    </a:lnT>
                    <a:lnB>
                      <a:noFill/>
                    </a:lnB>
                    <a:solidFill>
                      <a:srgbClr val="4FD1C5">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数据类型 (Data Type)</a:t>
                      </a:r>
                      <a:endParaRPr lang="en-US" sz="1100"/>
                    </a:p>
                  </a:txBody>
                  <a:tcPr marL="101600" marR="101600" marT="101600" marB="101600" anchor="t" anchorCtr="0">
                    <a:lnL>
                      <a:noFill/>
                    </a:lnL>
                    <a:lnR>
                      <a:noFill/>
                    </a:lnR>
                    <a:lnT>
                      <a:noFill/>
                    </a:lnT>
                    <a:lnB>
                      <a:noFill/>
                    </a:lnB>
                    <a:solidFill>
                      <a:srgbClr val="4FD1C5">
                        <a:alpha val="100000"/>
                      </a:srgbClr>
                    </a:solidFill>
                  </a:tcPr>
                </a:tc>
                <a:tc>
                  <a:txBody>
                    <a:bodyPr rtlCol="0"/>
                    <a:lstStyle/>
                    <a:p>
                      <a:pPr marL="0" indent="0" algn="ctr">
                        <a:lnSpc>
                          <a:spcPct val="100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业务说明 (Description)</a:t>
                      </a:r>
                      <a:endParaRPr lang="en-US" sz="1100"/>
                    </a:p>
                  </a:txBody>
                  <a:tcPr marL="101600" marR="101600" marT="101600" marB="101600" anchor="t" anchorCtr="0">
                    <a:lnL>
                      <a:noFill/>
                    </a:lnL>
                    <a:lnR>
                      <a:noFill/>
                    </a:lnR>
                    <a:lnT>
                      <a:noFill/>
                    </a:lnT>
                    <a:lnB>
                      <a:noFill/>
                    </a:lnB>
                    <a:solidFill>
                      <a:srgbClr val="4FD1C5">
                        <a:alpha val="100000"/>
                      </a:srgbClr>
                    </a:solidFill>
                  </a:tcPr>
                </a:tc>
              </a:tr>
              <a:tr h="457200">
                <a:tc>
                  <a:txBody>
                    <a:bodyPr rtlCol="0"/>
                    <a:lstStyle/>
                    <a:p>
                      <a:pPr marL="0" indent="0" algn="ctr">
                        <a:lnSpc>
                          <a:spcPct val="100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PrescID</a:t>
                      </a:r>
                      <a:endParaRPr lang="en-US" sz="1100"/>
                    </a:p>
                  </a:txBody>
                  <a:tcPr marL="101600" marR="101600" marT="101600" marB="101600" anchor="t" anchorCtr="0">
                    <a:lnL>
                      <a:noFill/>
                    </a:lnL>
                    <a:lnR>
                      <a:noFill/>
                    </a:lnR>
                    <a:lnT>
                      <a:noFill/>
                    </a:lnT>
                    <a:lnB>
                      <a:noFill/>
                    </a:lnB>
                    <a:solidFill>
                      <a:srgbClr val="4FD1C5">
                        <a:alpha val="18000"/>
                      </a:srgbClr>
                    </a:solidFill>
                  </a:tcPr>
                </a:tc>
                <a:tc>
                  <a:txBody>
                    <a:bodyPr rtlCol="0"/>
                    <a:lstStyle/>
                    <a:p>
                      <a:pPr marL="0" indent="0" algn="ctr">
                        <a:lnSpc>
                          <a:spcPct val="100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INT</a:t>
                      </a:r>
                      <a:endParaRPr lang="en-US" sz="1100"/>
                    </a:p>
                  </a:txBody>
                  <a:tcPr marL="101600" marR="101600" marT="101600" marB="101600" anchor="t" anchorCtr="0">
                    <a:lnL>
                      <a:noFill/>
                    </a:lnL>
                    <a:lnR>
                      <a:noFill/>
                    </a:lnR>
                    <a:lnT>
                      <a:noFill/>
                    </a:lnT>
                    <a:lnB>
                      <a:noFill/>
                    </a:lnB>
                    <a:solidFill>
                      <a:srgbClr val="4FD1C5">
                        <a:alpha val="18000"/>
                      </a:srgbClr>
                    </a:solidFill>
                  </a:tcPr>
                </a:tc>
                <a:tc>
                  <a:txBody>
                    <a:bodyPr rtlCol="0"/>
                    <a:lstStyle/>
                    <a:p>
                      <a:pPr marL="152400" indent="0" algn="l">
                        <a:lnSpc>
                          <a:spcPct val="100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主键：</a:t>
                      </a: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系统自动生成的唯一处方流水号，作为单张处方的身份标识。</a:t>
                      </a:r>
                      <a:endParaRPr lang="en-US" sz="1100"/>
                    </a:p>
                  </a:txBody>
                  <a:tcPr marL="101600" marR="101600" marT="101600" marB="101600" anchor="t" anchorCtr="0">
                    <a:lnL>
                      <a:noFill/>
                    </a:lnL>
                    <a:lnR>
                      <a:noFill/>
                    </a:lnR>
                    <a:lnT>
                      <a:noFill/>
                    </a:lnT>
                    <a:lnB>
                      <a:noFill/>
                    </a:lnB>
                    <a:solidFill>
                      <a:srgbClr val="4FD1C5">
                        <a:alpha val="18000"/>
                      </a:srgbClr>
                    </a:solidFill>
                  </a:tcPr>
                </a:tc>
              </a:tr>
              <a:tr h="457200">
                <a:tc>
                  <a:txBody>
                    <a:bodyPr rtlCol="0"/>
                    <a:lstStyle/>
                    <a:p>
                      <a:pPr marL="0" indent="0" algn="ctr">
                        <a:lnSpc>
                          <a:spcPct val="100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OrderID</a:t>
                      </a:r>
                      <a:endParaRPr lang="en-US" sz="1100"/>
                    </a:p>
                  </a:txBody>
                  <a:tcPr marL="101600" marR="101600" marT="101600" marB="101600" anchor="t" anchorCtr="0">
                    <a:lnL>
                      <a:noFill/>
                    </a:lnL>
                    <a:lnR>
                      <a:noFill/>
                    </a:lnR>
                    <a:lnT>
                      <a:noFill/>
                    </a:lnT>
                    <a:lnB>
                      <a:noFill/>
                    </a:lnB>
                    <a:solidFill>
                      <a:srgbClr val="F0FAF9">
                        <a:alpha val="100000"/>
                      </a:srgbClr>
                    </a:solidFill>
                  </a:tcPr>
                </a:tc>
                <a:tc>
                  <a:txBody>
                    <a:bodyPr rtlCol="0"/>
                    <a:lstStyle/>
                    <a:p>
                      <a:pPr marL="0" indent="0" algn="ctr">
                        <a:lnSpc>
                          <a:spcPct val="100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INT</a:t>
                      </a:r>
                      <a:endParaRPr lang="en-US" sz="1100"/>
                    </a:p>
                  </a:txBody>
                  <a:tcPr marL="101600" marR="101600" marT="101600" marB="101600" anchor="t" anchorCtr="0">
                    <a:lnL>
                      <a:noFill/>
                    </a:lnL>
                    <a:lnR>
                      <a:noFill/>
                    </a:lnR>
                    <a:lnT>
                      <a:noFill/>
                    </a:lnT>
                    <a:lnB>
                      <a:noFill/>
                    </a:lnB>
                    <a:solidFill>
                      <a:srgbClr val="F0FAF9">
                        <a:alpha val="100000"/>
                      </a:srgbClr>
                    </a:solidFill>
                  </a:tcPr>
                </a:tc>
                <a:tc>
                  <a:txBody>
                    <a:bodyPr rtlCol="0"/>
                    <a:lstStyle/>
                    <a:p>
                      <a:pPr marL="152400" indent="0" algn="l">
                        <a:lnSpc>
                          <a:spcPct val="100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外键：</a:t>
                      </a: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关联医嘱信息表的核心字段，建立处方与原始医嘱的归属关系。</a:t>
                      </a:r>
                      <a:endParaRPr lang="en-US" sz="1100"/>
                    </a:p>
                  </a:txBody>
                  <a:tcPr marL="101600" marR="101600" marT="101600" marB="101600" anchor="t" anchorCtr="0">
                    <a:lnL>
                      <a:noFill/>
                    </a:lnL>
                    <a:lnR>
                      <a:noFill/>
                    </a:lnR>
                    <a:lnT>
                      <a:noFill/>
                    </a:lnT>
                    <a:lnB>
                      <a:noFill/>
                    </a:lnB>
                    <a:solidFill>
                      <a:srgbClr val="F0FAF9">
                        <a:alpha val="100000"/>
                      </a:srgbClr>
                    </a:solidFill>
                  </a:tcPr>
                </a:tc>
              </a:tr>
              <a:tr h="457200">
                <a:tc>
                  <a:txBody>
                    <a:bodyPr rtlCol="0"/>
                    <a:lstStyle/>
                    <a:p>
                      <a:pPr marL="0" indent="0" algn="ctr">
                        <a:lnSpc>
                          <a:spcPct val="100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DrugCode / DrugName</a:t>
                      </a:r>
                      <a:endParaRPr lang="en-US" sz="1100"/>
                    </a:p>
                  </a:txBody>
                  <a:tcPr marL="101600" marR="101600" marT="101600" marB="101600" anchor="t" anchorCtr="0">
                    <a:lnL>
                      <a:noFill/>
                    </a:lnL>
                    <a:lnR>
                      <a:noFill/>
                    </a:lnR>
                    <a:lnT>
                      <a:noFill/>
                    </a:lnT>
                    <a:lnB>
                      <a:noFill/>
                    </a:lnB>
                    <a:solidFill>
                      <a:srgbClr val="4FD1C5">
                        <a:alpha val="10000"/>
                      </a:srgbClr>
                    </a:solidFill>
                  </a:tcPr>
                </a:tc>
                <a:tc>
                  <a:txBody>
                    <a:bodyPr rtlCol="0"/>
                    <a:lstStyle/>
                    <a:p>
                      <a:pPr marL="0" indent="0" algn="ctr">
                        <a:lnSpc>
                          <a:spcPct val="100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VARCHAR(50/100)</a:t>
                      </a:r>
                      <a:endParaRPr lang="en-US" sz="1100"/>
                    </a:p>
                  </a:txBody>
                  <a:tcPr marL="101600" marR="101600" marT="101600" marB="101600" anchor="t" anchorCtr="0">
                    <a:lnL>
                      <a:noFill/>
                    </a:lnL>
                    <a:lnR>
                      <a:noFill/>
                    </a:lnR>
                    <a:lnT>
                      <a:noFill/>
                    </a:lnT>
                    <a:lnB>
                      <a:noFill/>
                    </a:lnB>
                    <a:solidFill>
                      <a:srgbClr val="4FD1C5">
                        <a:alpha val="10000"/>
                      </a:srgbClr>
                    </a:solidFill>
                  </a:tcPr>
                </a:tc>
                <a:tc>
                  <a:txBody>
                    <a:bodyPr rtlCol="0"/>
                    <a:lstStyle/>
                    <a:p>
                      <a:pPr marL="152400" indent="0" algn="l">
                        <a:lnSpc>
                          <a:spcPct val="100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存储药品的标准编码与通用名称，确保药房准确识别所需调配的药品实体。</a:t>
                      </a:r>
                      <a:endParaRPr lang="en-US" sz="1100"/>
                    </a:p>
                  </a:txBody>
                  <a:tcPr marL="101600" marR="101600" marT="101600" marB="101600" anchor="t" anchorCtr="0">
                    <a:lnL>
                      <a:noFill/>
                    </a:lnL>
                    <a:lnR>
                      <a:noFill/>
                    </a:lnR>
                    <a:lnT>
                      <a:noFill/>
                    </a:lnT>
                    <a:lnB>
                      <a:noFill/>
                    </a:lnB>
                    <a:solidFill>
                      <a:srgbClr val="4FD1C5">
                        <a:alpha val="10000"/>
                      </a:srgbClr>
                    </a:solidFill>
                  </a:tcPr>
                </a:tc>
              </a:tr>
              <a:tr h="457200">
                <a:tc>
                  <a:txBody>
                    <a:bodyPr rtlCol="0"/>
                    <a:lstStyle/>
                    <a:p>
                      <a:pPr marL="0" indent="0" algn="ctr">
                        <a:lnSpc>
                          <a:spcPct val="100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Dosage / Usage / Frequency</a:t>
                      </a:r>
                      <a:endParaRPr lang="en-US" sz="1100"/>
                    </a:p>
                  </a:txBody>
                  <a:tcPr marL="101600" marR="101600" marT="101600" marB="101600" anchor="t" anchorCtr="0">
                    <a:lnL>
                      <a:noFill/>
                    </a:lnL>
                    <a:lnR>
                      <a:noFill/>
                    </a:lnR>
                    <a:lnT>
                      <a:noFill/>
                    </a:lnT>
                    <a:lnB>
                      <a:noFill/>
                    </a:lnB>
                    <a:solidFill>
                      <a:srgbClr val="F0FAF9">
                        <a:alpha val="100000"/>
                      </a:srgbClr>
                    </a:solidFill>
                  </a:tcPr>
                </a:tc>
                <a:tc>
                  <a:txBody>
                    <a:bodyPr rtlCol="0"/>
                    <a:lstStyle/>
                    <a:p>
                      <a:pPr marL="0" indent="0" algn="ctr">
                        <a:lnSpc>
                          <a:spcPct val="100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DECIMAL / VARCHAR</a:t>
                      </a:r>
                      <a:endParaRPr lang="en-US" sz="1100"/>
                    </a:p>
                  </a:txBody>
                  <a:tcPr marL="101600" marR="101600" marT="101600" marB="101600" anchor="t" anchorCtr="0">
                    <a:lnL>
                      <a:noFill/>
                    </a:lnL>
                    <a:lnR>
                      <a:noFill/>
                    </a:lnR>
                    <a:lnT>
                      <a:noFill/>
                    </a:lnT>
                    <a:lnB>
                      <a:noFill/>
                    </a:lnB>
                    <a:solidFill>
                      <a:srgbClr val="F0FAF9">
                        <a:alpha val="100000"/>
                      </a:srgbClr>
                    </a:solidFill>
                  </a:tcPr>
                </a:tc>
                <a:tc>
                  <a:txBody>
                    <a:bodyPr rtlCol="0"/>
                    <a:lstStyle/>
                    <a:p>
                      <a:pPr marL="152400" indent="0" algn="l">
                        <a:lnSpc>
                          <a:spcPct val="100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明确单次用药剂量、具体给药途径（如口服、肌注）及用药频次，指导护士或患者正确执行。</a:t>
                      </a:r>
                      <a:endParaRPr lang="en-US" sz="1100"/>
                    </a:p>
                  </a:txBody>
                  <a:tcPr marL="101600" marR="101600" marT="101600" marB="101600" anchor="t" anchorCtr="0">
                    <a:lnL>
                      <a:noFill/>
                    </a:lnL>
                    <a:lnR>
                      <a:noFill/>
                    </a:lnR>
                    <a:lnT>
                      <a:noFill/>
                    </a:lnT>
                    <a:lnB>
                      <a:noFill/>
                    </a:lnB>
                    <a:solidFill>
                      <a:srgbClr val="F0FAF9">
                        <a:alpha val="100000"/>
                      </a:srgbClr>
                    </a:solidFill>
                  </a:tcPr>
                </a:tc>
              </a:tr>
              <a:tr h="457200">
                <a:tc>
                  <a:txBody>
                    <a:bodyPr rtlCol="0"/>
                    <a:lstStyle/>
                    <a:p>
                      <a:pPr marL="0" indent="0" algn="ctr">
                        <a:lnSpc>
                          <a:spcPct val="100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TotalQuantity / Status</a:t>
                      </a:r>
                      <a:endParaRPr lang="en-US" sz="1100"/>
                    </a:p>
                  </a:txBody>
                  <a:tcPr marL="101600" marR="101600" marT="101600" marB="101600" anchor="t" anchorCtr="0">
                    <a:lnL>
                      <a:noFill/>
                    </a:lnL>
                    <a:lnR>
                      <a:noFill/>
                    </a:lnR>
                    <a:lnT>
                      <a:noFill/>
                    </a:lnT>
                    <a:lnB>
                      <a:noFill/>
                    </a:lnB>
                    <a:solidFill>
                      <a:srgbClr val="4FD1C5">
                        <a:alpha val="10000"/>
                      </a:srgbClr>
                    </a:solidFill>
                  </a:tcPr>
                </a:tc>
                <a:tc>
                  <a:txBody>
                    <a:bodyPr rtlCol="0"/>
                    <a:lstStyle/>
                    <a:p>
                      <a:pPr marL="0" indent="0" algn="ctr">
                        <a:lnSpc>
                          <a:spcPct val="100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DECIMAL / VARCHAR</a:t>
                      </a:r>
                      <a:endParaRPr lang="en-US" sz="1100"/>
                    </a:p>
                  </a:txBody>
                  <a:tcPr marL="101600" marR="101600" marT="101600" marB="101600" anchor="t" anchorCtr="0">
                    <a:lnL>
                      <a:noFill/>
                    </a:lnL>
                    <a:lnR>
                      <a:noFill/>
                    </a:lnR>
                    <a:lnT>
                      <a:noFill/>
                    </a:lnT>
                    <a:lnB>
                      <a:noFill/>
                    </a:lnB>
                    <a:solidFill>
                      <a:srgbClr val="4FD1C5">
                        <a:alpha val="10000"/>
                      </a:srgbClr>
                    </a:solidFill>
                  </a:tcPr>
                </a:tc>
                <a:tc>
                  <a:txBody>
                    <a:bodyPr rtlCol="0"/>
                    <a:lstStyle/>
                    <a:p>
                      <a:pPr marL="152400" indent="0" algn="l">
                        <a:lnSpc>
                          <a:spcPct val="100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计算得出药品总发放数量，同时记录处方当前的流转状态（如：待发药、已发药、已退费）。</a:t>
                      </a:r>
                      <a:endParaRPr lang="en-US" sz="1100"/>
                    </a:p>
                  </a:txBody>
                  <a:tcPr marL="101600" marR="101600" marT="101600" marB="101600" anchor="t" anchorCtr="0">
                    <a:lnL>
                      <a:noFill/>
                    </a:lnL>
                    <a:lnR>
                      <a:noFill/>
                    </a:lnR>
                    <a:lnT>
                      <a:noFill/>
                    </a:lnT>
                    <a:lnB>
                      <a:noFill/>
                    </a:lnB>
                    <a:solidFill>
                      <a:srgbClr val="4FD1C5">
                        <a:alpha val="10000"/>
                      </a:srgbClr>
                    </a:solidFill>
                  </a:tcPr>
                </a:tc>
              </a:tr>
              <a:tr h="571500">
                <a:tc>
                  <a:txBody>
                    <a:bodyPr rtlCol="0"/>
                    <a:lstStyle/>
                    <a:p>
                      <a:pPr marL="0" indent="0" algn="ctr">
                        <a:lnSpc>
                          <a:spcPct val="100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核心作用</a:t>
                      </a:r>
                      <a:endParaRPr lang="en-US" sz="1100"/>
                    </a:p>
                  </a:txBody>
                  <a:tcPr marL="101600" marR="101600" marT="101600" marB="101600" anchor="t" anchorCtr="0">
                    <a:lnL>
                      <a:noFill/>
                    </a:lnL>
                    <a:lnR>
                      <a:noFill/>
                    </a:lnR>
                    <a:lnT>
                      <a:noFill/>
                    </a:lnT>
                    <a:lnB>
                      <a:noFill/>
                    </a:lnB>
                    <a:solidFill>
                      <a:srgbClr val="2D3748">
                        <a:alpha val="4000"/>
                      </a:srgbClr>
                    </a:solidFill>
                  </a:tcPr>
                </a:tc>
                <a:tc>
                  <a:txBody>
                    <a:bodyPr rtlCol="0"/>
                    <a:lstStyle/>
                    <a:p>
                      <a:pPr marL="0" indent="0" algn="ctr">
                        <a:lnSpc>
                          <a:spcPct val="100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业务流转</a:t>
                      </a:r>
                      <a:endParaRPr lang="en-US" sz="1100"/>
                    </a:p>
                  </a:txBody>
                  <a:tcPr marL="101600" marR="101600" marT="101600" marB="101600" anchor="t" anchorCtr="0">
                    <a:lnL>
                      <a:noFill/>
                    </a:lnL>
                    <a:lnR>
                      <a:noFill/>
                    </a:lnR>
                    <a:lnT>
                      <a:noFill/>
                    </a:lnT>
                    <a:lnB>
                      <a:noFill/>
                    </a:lnB>
                    <a:solidFill>
                      <a:srgbClr val="2D3748">
                        <a:alpha val="4000"/>
                      </a:srgbClr>
                    </a:solidFill>
                  </a:tcPr>
                </a:tc>
                <a:tc>
                  <a:txBody>
                    <a:bodyPr rtlCol="0"/>
                    <a:lstStyle/>
                    <a:p>
                      <a:pPr marL="152400" indent="0" algn="l">
                        <a:lnSpc>
                          <a:spcPct val="100000"/>
                        </a:lnSpc>
                        <a:defRPr/>
                      </a:pPr>
                      <a:r>
                        <a:rPr lang="en-US" sz="1300" b="0" i="0" u="none" strike="noStrike">
                          <a:solidFill>
                            <a:srgbClr val="2D3748">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承上启下，打通从医嘱开立到药品消耗的数据流，保障医疗行为的规范性与费用计算的准确性。</a:t>
                      </a:r>
                      <a:endParaRPr lang="en-US" sz="1100"/>
                    </a:p>
                  </a:txBody>
                  <a:tcPr marL="101600" marR="101600" marT="101600" marB="101600" anchor="t" anchorCtr="0">
                    <a:lnL>
                      <a:noFill/>
                    </a:lnL>
                    <a:lnR>
                      <a:noFill/>
                    </a:lnR>
                    <a:lnT>
                      <a:noFill/>
                    </a:lnT>
                    <a:lnB>
                      <a:noFill/>
                    </a:lnB>
                    <a:solidFill>
                      <a:srgbClr val="2D3748">
                        <a:alpha val="4000"/>
                      </a:srgbClr>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2286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02. 影像归档与通信系统 (PACS) 解析</a:t>
            </a:r>
            <a:endParaRPr lang="en-US" sz="1100"/>
          </a:p>
        </p:txBody>
      </p:sp>
      <p:sp>
        <p:nvSpPr>
          <p:cNvPr id="4" name="AutoShape 4"/>
          <p:cNvSpPr/>
          <p:nvPr/>
        </p:nvSpPr>
        <p:spPr>
          <a:xfrm>
            <a:off x="1651000" y="3683000"/>
            <a:ext cx="8890000" cy="2286000"/>
          </a:xfrm>
          <a:prstGeom prst="rect">
            <a:avLst/>
          </a:prstGeom>
          <a:noFill/>
          <a:ln w="12700" cap="flat" cmpd="sng">
            <a:noFill/>
            <a:prstDash val="solid"/>
            <a:round/>
          </a:ln>
        </p:spPr>
        <p:txBody>
          <a:bodyPr vert="horz" wrap="square" lIns="0" tIns="0" rIns="0" bIns="0" rtlCol="0" anchor="ctr" anchorCtr="0"/>
          <a:lstStyle/>
          <a:p>
            <a:pPr marL="0" indent="0" algn="ctr">
              <a:lnSpc>
                <a:spcPct val="150000"/>
              </a:lnSpc>
              <a:defRPr/>
            </a:pPr>
            <a:r>
              <a:rPr lang="en-US" sz="18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PACS (Picture Archiving and Communication System) 是专门用于管理和传输医学影像（如CT、MRI、X光片）的信息系统。它取代了传统的胶片，实现了影像的数字化采集、存储、传输和诊断，是连接临床科室与影像科室的关键纽带。</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PACS核心功能：影像全生命周期管理</a:t>
            </a:r>
            <a:endParaRPr lang="en-US" sz="1100"/>
          </a:p>
        </p:txBody>
      </p:sp>
      <p:sp>
        <p:nvSpPr>
          <p:cNvPr id="4" name="AutoShape 4"/>
          <p:cNvSpPr/>
          <p:nvPr/>
        </p:nvSpPr>
        <p:spPr>
          <a:xfrm>
            <a:off x="762000" y="1524000"/>
            <a:ext cx="52070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76200" cy="2349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500" y="1714500"/>
            <a:ext cx="406400" cy="406400"/>
          </a:xfrm>
          <a:prstGeom prst="rect">
            <a:avLst/>
          </a:prstGeom>
        </p:spPr>
      </p:pic>
      <p:sp>
        <p:nvSpPr>
          <p:cNvPr id="7" name="AutoShape 7"/>
          <p:cNvSpPr/>
          <p:nvPr/>
        </p:nvSpPr>
        <p:spPr>
          <a:xfrm>
            <a:off x="1714500" y="1714500"/>
            <a:ext cx="4000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影像采集</a:t>
            </a:r>
            <a:endParaRPr lang="en-US" sz="1100"/>
          </a:p>
        </p:txBody>
      </p:sp>
      <p:sp>
        <p:nvSpPr>
          <p:cNvPr id="8" name="AutoShape 8"/>
          <p:cNvSpPr/>
          <p:nvPr/>
        </p:nvSpPr>
        <p:spPr>
          <a:xfrm>
            <a:off x="1079500" y="2286000"/>
            <a:ext cx="4635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自动对接CT、MRI、DR等主流影像设备，标准化解析并接收DICOM格式数据，打破设备厂商壁垒。实现从扫描端到系统端的影像实时数字化捕获，为后续诊疗流程提供第一手精准数据源。</a:t>
            </a:r>
            <a:endParaRPr lang="en-US" sz="1100"/>
          </a:p>
        </p:txBody>
      </p:sp>
      <p:sp>
        <p:nvSpPr>
          <p:cNvPr id="9" name="AutoShape 9"/>
          <p:cNvSpPr/>
          <p:nvPr/>
        </p:nvSpPr>
        <p:spPr>
          <a:xfrm>
            <a:off x="6223000" y="1524000"/>
            <a:ext cx="52070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6223000" y="1524000"/>
            <a:ext cx="76200" cy="2349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1714500"/>
            <a:ext cx="406400" cy="406400"/>
          </a:xfrm>
          <a:prstGeom prst="rect">
            <a:avLst/>
          </a:prstGeom>
        </p:spPr>
      </p:pic>
      <p:sp>
        <p:nvSpPr>
          <p:cNvPr id="12" name="AutoShape 12"/>
          <p:cNvSpPr/>
          <p:nvPr/>
        </p:nvSpPr>
        <p:spPr>
          <a:xfrm>
            <a:off x="7175500" y="1714500"/>
            <a:ext cx="4000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影像存储</a:t>
            </a:r>
            <a:endParaRPr lang="en-US" sz="1100"/>
          </a:p>
        </p:txBody>
      </p:sp>
      <p:sp>
        <p:nvSpPr>
          <p:cNvPr id="13" name="AutoShape 13"/>
          <p:cNvSpPr/>
          <p:nvPr/>
        </p:nvSpPr>
        <p:spPr>
          <a:xfrm>
            <a:off x="6540500" y="2286000"/>
            <a:ext cx="4635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构建高可用的海量数据中心，支持海量历史与新增影像的长期无损归档。采用分布式存储架构与多重异地备份机制，在保障数据安全性与完整性的同时，实现毫秒级检索与随时在线访问，支撑临床业务连续性。</a:t>
            </a:r>
            <a:endParaRPr lang="en-US" sz="1100"/>
          </a:p>
        </p:txBody>
      </p:sp>
      <p:sp>
        <p:nvSpPr>
          <p:cNvPr id="14" name="AutoShape 14"/>
          <p:cNvSpPr/>
          <p:nvPr/>
        </p:nvSpPr>
        <p:spPr>
          <a:xfrm>
            <a:off x="762000" y="4064000"/>
            <a:ext cx="52070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762000" y="4064000"/>
            <a:ext cx="76200" cy="2349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79500" y="4254500"/>
            <a:ext cx="406400" cy="406400"/>
          </a:xfrm>
          <a:prstGeom prst="rect">
            <a:avLst/>
          </a:prstGeom>
        </p:spPr>
      </p:pic>
      <p:sp>
        <p:nvSpPr>
          <p:cNvPr id="17" name="AutoShape 17"/>
          <p:cNvSpPr/>
          <p:nvPr/>
        </p:nvSpPr>
        <p:spPr>
          <a:xfrm>
            <a:off x="1714500" y="4254500"/>
            <a:ext cx="4000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影像传输</a:t>
            </a:r>
            <a:endParaRPr lang="en-US" sz="1100"/>
          </a:p>
        </p:txBody>
      </p:sp>
      <p:sp>
        <p:nvSpPr>
          <p:cNvPr id="18" name="AutoShape 18"/>
          <p:cNvSpPr/>
          <p:nvPr/>
        </p:nvSpPr>
        <p:spPr>
          <a:xfrm>
            <a:off x="1079500" y="4826000"/>
            <a:ext cx="4635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院内高速网络架构进行深度优化，实现影像数据的低延迟、高保真传输。无论是院内跨科室的即时调阅，还是紧急状态下的急诊影像调用，亦或是远程多中心会诊场景，都能确保高质量影像的快速、稳定交付。</a:t>
            </a:r>
            <a:endParaRPr lang="en-US" sz="1100"/>
          </a:p>
        </p:txBody>
      </p:sp>
      <p:sp>
        <p:nvSpPr>
          <p:cNvPr id="19" name="AutoShape 19"/>
          <p:cNvSpPr/>
          <p:nvPr/>
        </p:nvSpPr>
        <p:spPr>
          <a:xfrm>
            <a:off x="6223000" y="4064000"/>
            <a:ext cx="5207000" cy="234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6223000" y="4064000"/>
            <a:ext cx="76200" cy="2349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40500" y="4254500"/>
            <a:ext cx="406400" cy="406400"/>
          </a:xfrm>
          <a:prstGeom prst="rect">
            <a:avLst/>
          </a:prstGeom>
        </p:spPr>
      </p:pic>
      <p:sp>
        <p:nvSpPr>
          <p:cNvPr id="22" name="AutoShape 22"/>
          <p:cNvSpPr/>
          <p:nvPr/>
        </p:nvSpPr>
        <p:spPr>
          <a:xfrm>
            <a:off x="7175500" y="4254500"/>
            <a:ext cx="4000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专业阅片诊断</a:t>
            </a:r>
            <a:endParaRPr lang="en-US" sz="1100"/>
          </a:p>
        </p:txBody>
      </p:sp>
      <p:sp>
        <p:nvSpPr>
          <p:cNvPr id="23" name="AutoShape 23"/>
          <p:cNvSpPr/>
          <p:nvPr/>
        </p:nvSpPr>
        <p:spPr>
          <a:xfrm>
            <a:off x="6540500" y="4826000"/>
            <a:ext cx="46355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提供符合国际临床诊断标准的数字化阅片工作站。支持精细的窗宽窗位动态调节、多序列影像同屏对比以及三维重建等高级后处理功能，为放射科及临床医生提供强大的辅助工具，助力精准诊断与治疗方案制定。</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PACS核心数据结构：DICOM 标准</a:t>
            </a:r>
            <a:endParaRPr lang="en-US" sz="1100"/>
          </a:p>
        </p:txBody>
      </p:sp>
      <p:sp>
        <p:nvSpPr>
          <p:cNvPr id="4" name="AutoShape 4"/>
          <p:cNvSpPr/>
          <p:nvPr/>
        </p:nvSpPr>
        <p:spPr>
          <a:xfrm>
            <a:off x="762000" y="1397000"/>
            <a:ext cx="10668000" cy="10795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14986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2C3E50"/>
                </a:solidFill>
                <a:latin typeface="Noto Sans SC" panose="020B0200000000000000" charset="-122"/>
                <a:ea typeface="Noto Sans SC" panose="020B0200000000000000" charset="-122"/>
                <a:cs typeface="Noto Sans SC" panose="020B0200000000000000" charset="-122"/>
                <a:sym typeface="Noto Sans SC" panose="020B0200000000000000" charset="-122"/>
              </a:rPr>
              <a:t>DICOM (Digital Imaging and Communications in Medicine) 是医学影像领域的国际通用标准，它不仅定义了医学影像的存储格式与传输协议，更构建了一套完整的信息模型，让复杂的医疗影像数据能够被设备识别、系统处理并在不同平台间安全流转。</a:t>
            </a:r>
            <a:endParaRPr lang="en-US" sz="1100"/>
          </a:p>
        </p:txBody>
      </p:sp>
      <p:sp>
        <p:nvSpPr>
          <p:cNvPr id="6" name="AutoShape 6"/>
          <p:cNvSpPr/>
          <p:nvPr/>
        </p:nvSpPr>
        <p:spPr>
          <a:xfrm>
            <a:off x="762000" y="2667000"/>
            <a:ext cx="3467100" cy="1968500"/>
          </a:xfrm>
          <a:prstGeom prst="roundRect">
            <a:avLst>
              <a:gd name="adj" fmla="val 0"/>
            </a:avLst>
          </a:prstGeom>
          <a:solidFill>
            <a:srgbClr val="F0FCFB">
              <a:alpha val="95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667000"/>
            <a:ext cx="34671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2857500"/>
            <a:ext cx="30861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互操作性</a:t>
            </a:r>
            <a:endParaRPr lang="en-US" sz="1100"/>
          </a:p>
        </p:txBody>
      </p:sp>
      <p:sp>
        <p:nvSpPr>
          <p:cNvPr id="9" name="AutoShape 9"/>
          <p:cNvSpPr/>
          <p:nvPr/>
        </p:nvSpPr>
        <p:spPr>
          <a:xfrm>
            <a:off x="952500" y="33655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24B59"/>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打破不同厂商设备与PACS系统的技术壁垒，确保CT、MRI等各类影像设备产生的数据能被统一识别、通信和无障碍交换，是多设备协同工作的基础。</a:t>
            </a:r>
            <a:endParaRPr lang="en-US" sz="1100"/>
          </a:p>
        </p:txBody>
      </p:sp>
      <p:sp>
        <p:nvSpPr>
          <p:cNvPr id="10" name="AutoShape 10"/>
          <p:cNvSpPr/>
          <p:nvPr/>
        </p:nvSpPr>
        <p:spPr>
          <a:xfrm>
            <a:off x="4394200" y="2667000"/>
            <a:ext cx="3467100" cy="1968500"/>
          </a:xfrm>
          <a:prstGeom prst="roundRect">
            <a:avLst>
              <a:gd name="adj" fmla="val 0"/>
            </a:avLst>
          </a:prstGeom>
          <a:solidFill>
            <a:srgbClr val="F0FCFB">
              <a:alpha val="95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394200" y="2667000"/>
            <a:ext cx="34671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584700" y="2857500"/>
            <a:ext cx="30861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信息完整性</a:t>
            </a:r>
            <a:endParaRPr lang="en-US" sz="1100"/>
          </a:p>
        </p:txBody>
      </p:sp>
      <p:sp>
        <p:nvSpPr>
          <p:cNvPr id="13" name="AutoShape 13"/>
          <p:cNvSpPr/>
          <p:nvPr/>
        </p:nvSpPr>
        <p:spPr>
          <a:xfrm>
            <a:off x="4584700" y="33655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24B59"/>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每个文件不仅封装了可视化的像素影像，更绑定了患者身份、检查参数、设备型号等关键元数据，让“一张片子”附带完整的临床上下文，避免信息丢失。</a:t>
            </a:r>
            <a:endParaRPr lang="en-US" sz="1100"/>
          </a:p>
        </p:txBody>
      </p:sp>
      <p:sp>
        <p:nvSpPr>
          <p:cNvPr id="14" name="AutoShape 14"/>
          <p:cNvSpPr/>
          <p:nvPr/>
        </p:nvSpPr>
        <p:spPr>
          <a:xfrm>
            <a:off x="8026400" y="2667000"/>
            <a:ext cx="3467100" cy="1968500"/>
          </a:xfrm>
          <a:prstGeom prst="roundRect">
            <a:avLst>
              <a:gd name="adj" fmla="val 0"/>
            </a:avLst>
          </a:prstGeom>
          <a:solidFill>
            <a:srgbClr val="F0FCFB">
              <a:alpha val="95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026400" y="2667000"/>
            <a:ext cx="34671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216900" y="2857500"/>
            <a:ext cx="30861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标准化规范</a:t>
            </a:r>
            <a:endParaRPr lang="en-US" sz="1100"/>
          </a:p>
        </p:txBody>
      </p:sp>
      <p:sp>
        <p:nvSpPr>
          <p:cNvPr id="17" name="AutoShape 17"/>
          <p:cNvSpPr/>
          <p:nvPr/>
        </p:nvSpPr>
        <p:spPr>
          <a:xfrm>
            <a:off x="8216900" y="3365500"/>
            <a:ext cx="30861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24B59"/>
                </a:solidFill>
                <a:latin typeface="Noto Sans SC" panose="020B0200000000000000" charset="-122"/>
                <a:ea typeface="Noto Sans SC" panose="020B0200000000000000" charset="-122"/>
                <a:cs typeface="Noto Sans SC" panose="020B0200000000000000" charset="-122"/>
                <a:sym typeface="Noto Sans SC" panose="020B0200000000000000" charset="-122"/>
              </a:rPr>
              <a:t>为全球医疗行业提供了统一的技术基准。从数据的存储编码、网络传输流程到终端显示渲染，标准化减少了开发适配成本，保障了诊断信息传递的一致性。</a:t>
            </a:r>
            <a:endParaRPr lang="en-US" sz="1100"/>
          </a:p>
        </p:txBody>
      </p:sp>
      <p:sp>
        <p:nvSpPr>
          <p:cNvPr id="18" name="AutoShape 18"/>
          <p:cNvSpPr/>
          <p:nvPr/>
        </p:nvSpPr>
        <p:spPr>
          <a:xfrm>
            <a:off x="762000" y="4826000"/>
            <a:ext cx="10668000" cy="1397000"/>
          </a:xfrm>
          <a:prstGeom prst="roundRect">
            <a:avLst>
              <a:gd name="adj" fmla="val 0"/>
            </a:avLst>
          </a:prstGeom>
          <a:solidFill>
            <a:srgbClr val="4FD1C5">
              <a:alpha val="75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1016000" y="4978400"/>
            <a:ext cx="10160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63632"/>
                </a:solidFill>
                <a:latin typeface="Noto Sans SC" panose="020B0200000000000000" charset="-122"/>
                <a:ea typeface="Noto Sans SC" panose="020B0200000000000000" charset="-122"/>
                <a:cs typeface="Noto Sans SC" panose="020B0200000000000000" charset="-122"/>
                <a:sym typeface="Noto Sans SC" panose="020B0200000000000000" charset="-122"/>
              </a:rPr>
              <a:t>简单来说，DICOM就是医学影像世界的“通用语言”。</a:t>
            </a:r>
            <a:r>
              <a:rPr lang="en-US" sz="1400" b="0" i="0" u="none" strike="noStrike">
                <a:solidFill>
                  <a:srgbClr val="163632">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它如同医疗信息化的“桥梁”，将原本独立的设备、科室与系统连接成一个有机整体，使得影像数据的获取、归档和调阅变得高效且可靠，是现代数字化医疗系统能够顺畅运行的底层基石。</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DICOM文件关键元数据 (Tags)</a:t>
            </a:r>
            <a:endParaRPr lang="en-US" sz="1100"/>
          </a:p>
        </p:txBody>
      </p:sp>
      <p:sp>
        <p:nvSpPr>
          <p:cNvPr id="4" name="AutoShape 4"/>
          <p:cNvSpPr/>
          <p:nvPr/>
        </p:nvSpPr>
        <p:spPr>
          <a:xfrm>
            <a:off x="762000" y="1397000"/>
            <a:ext cx="10668000" cy="952500"/>
          </a:xfrm>
          <a:prstGeom prst="roundRect">
            <a:avLst>
              <a:gd name="adj" fmla="val 0"/>
            </a:avLst>
          </a:prstGeom>
          <a:solidFill>
            <a:srgbClr val="FFFFFF">
              <a:alpha val="9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460500"/>
            <a:ext cx="1028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DICOM 文件通过唯一的“标签（Tag）”来结构化存储医疗影像信息，每个标签由组号和元素号共同定义。这些元数据不仅包含患者的基本信息，还记录了检查设备、成像参数及像素数据的位置，是实现医学影像互联互通的核心标准。</a:t>
            </a:r>
            <a:endParaRPr lang="en-US" sz="1100"/>
          </a:p>
        </p:txBody>
      </p:sp>
      <p:sp>
        <p:nvSpPr>
          <p:cNvPr id="6" name="AutoShape 6"/>
          <p:cNvSpPr/>
          <p:nvPr/>
        </p:nvSpPr>
        <p:spPr>
          <a:xfrm>
            <a:off x="762000" y="2540000"/>
            <a:ext cx="34925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540000"/>
            <a:ext cx="34925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89000" y="2667000"/>
            <a:ext cx="323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患者身份核心标识</a:t>
            </a:r>
            <a:endParaRPr lang="en-US" sz="1100"/>
          </a:p>
        </p:txBody>
      </p:sp>
      <p:sp>
        <p:nvSpPr>
          <p:cNvPr id="9" name="AutoShape 9"/>
          <p:cNvSpPr/>
          <p:nvPr/>
        </p:nvSpPr>
        <p:spPr>
          <a:xfrm>
            <a:off x="889000" y="3073400"/>
            <a:ext cx="3238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(0010, 0010) 姓名 | (0010, 0020) 患者ID</a:t>
            </a:r>
            <a:endParaRPr lang="en-US" sz="1100"/>
          </a:p>
        </p:txBody>
      </p:sp>
      <p:sp>
        <p:nvSpPr>
          <p:cNvPr id="10" name="AutoShape 10"/>
          <p:cNvSpPr/>
          <p:nvPr/>
        </p:nvSpPr>
        <p:spPr>
          <a:xfrm>
            <a:off x="889000" y="3657600"/>
            <a:ext cx="3238500" cy="6350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990600" y="36957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用于唯一标识患者，示例值：Zhang^San / P0012345。是PACS系统中患者信息归档的基础。</a:t>
            </a:r>
            <a:endParaRPr lang="en-US" sz="1100"/>
          </a:p>
        </p:txBody>
      </p:sp>
      <p:sp>
        <p:nvSpPr>
          <p:cNvPr id="12" name="AutoShape 12"/>
          <p:cNvSpPr/>
          <p:nvPr/>
        </p:nvSpPr>
        <p:spPr>
          <a:xfrm>
            <a:off x="4406900" y="2540000"/>
            <a:ext cx="34925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4406900" y="2540000"/>
            <a:ext cx="34925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4533900" y="2667000"/>
            <a:ext cx="323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检查业务属性</a:t>
            </a:r>
            <a:endParaRPr lang="en-US" sz="1100"/>
          </a:p>
        </p:txBody>
      </p:sp>
      <p:sp>
        <p:nvSpPr>
          <p:cNvPr id="15" name="AutoShape 15"/>
          <p:cNvSpPr/>
          <p:nvPr/>
        </p:nvSpPr>
        <p:spPr>
          <a:xfrm>
            <a:off x="4533900" y="3073400"/>
            <a:ext cx="3238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(0008, 0020) 日期 | (0008, 0060) 模态</a:t>
            </a:r>
            <a:endParaRPr lang="en-US" sz="1100"/>
          </a:p>
        </p:txBody>
      </p:sp>
      <p:sp>
        <p:nvSpPr>
          <p:cNvPr id="16" name="AutoShape 16"/>
          <p:cNvSpPr/>
          <p:nvPr/>
        </p:nvSpPr>
        <p:spPr>
          <a:xfrm>
            <a:off x="4533900" y="3657600"/>
            <a:ext cx="3238500" cy="6350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635500" y="36957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记录检查时间与设备类型，示例：20260526 / CT/MR/DX。决定了影像的处理与显示方式。</a:t>
            </a:r>
            <a:endParaRPr lang="en-US" sz="1100"/>
          </a:p>
        </p:txBody>
      </p:sp>
      <p:sp>
        <p:nvSpPr>
          <p:cNvPr id="18" name="AutoShape 18"/>
          <p:cNvSpPr/>
          <p:nvPr/>
        </p:nvSpPr>
        <p:spPr>
          <a:xfrm>
            <a:off x="8064500" y="2540000"/>
            <a:ext cx="3492500" cy="1841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8064500" y="2540000"/>
            <a:ext cx="34925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191500" y="2667000"/>
            <a:ext cx="3238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图像物理尺寸</a:t>
            </a:r>
            <a:endParaRPr lang="en-US" sz="1100"/>
          </a:p>
        </p:txBody>
      </p:sp>
      <p:sp>
        <p:nvSpPr>
          <p:cNvPr id="21" name="AutoShape 21"/>
          <p:cNvSpPr/>
          <p:nvPr/>
        </p:nvSpPr>
        <p:spPr>
          <a:xfrm>
            <a:off x="8191500" y="3073400"/>
            <a:ext cx="3238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(0028, 0010) 行 | (0028, 0011) 列</a:t>
            </a:r>
            <a:endParaRPr lang="en-US" sz="1100"/>
          </a:p>
        </p:txBody>
      </p:sp>
      <p:sp>
        <p:nvSpPr>
          <p:cNvPr id="22" name="AutoShape 22"/>
          <p:cNvSpPr/>
          <p:nvPr/>
        </p:nvSpPr>
        <p:spPr>
          <a:xfrm>
            <a:off x="8191500" y="3657600"/>
            <a:ext cx="3238500" cy="6350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8293100" y="3695700"/>
            <a:ext cx="3111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定义影像矩阵大小，常见示例：512×512。是图像渲染和测量计算的几何基础。</a:t>
            </a:r>
            <a:endParaRPr lang="en-US" sz="1100"/>
          </a:p>
        </p:txBody>
      </p:sp>
      <p:sp>
        <p:nvSpPr>
          <p:cNvPr id="24" name="AutoShape 24"/>
          <p:cNvSpPr/>
          <p:nvPr/>
        </p:nvSpPr>
        <p:spPr>
          <a:xfrm>
            <a:off x="762000" y="4508500"/>
            <a:ext cx="7137400" cy="13970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762000" y="4508500"/>
            <a:ext cx="50800" cy="1397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952500" y="4572000"/>
            <a:ext cx="6667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核心负载：像素数据 (Pixel Data)</a:t>
            </a:r>
            <a:endParaRPr lang="en-US" sz="1100"/>
          </a:p>
        </p:txBody>
      </p:sp>
      <p:sp>
        <p:nvSpPr>
          <p:cNvPr id="27" name="AutoShape 27"/>
          <p:cNvSpPr/>
          <p:nvPr/>
        </p:nvSpPr>
        <p:spPr>
          <a:xfrm>
            <a:off x="952500" y="4953000"/>
            <a:ext cx="6731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标签：</a:t>
            </a:r>
            <a:r>
              <a:rPr lang="en-US" sz="1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(7FE0, 0010)</a:t>
            </a:r>
            <a:r>
              <a:rPr lang="en-US" sz="12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。这是DICOM文件中体积最大的部分，存储了经过压缩或未压缩的二进制图像原始数据。它是医疗诊断的直观依据，也是影像后处理（如三维重建）的数据源。</a:t>
            </a:r>
            <a:endParaRPr lang="en-US" sz="1100"/>
          </a:p>
        </p:txBody>
      </p:sp>
      <p:sp>
        <p:nvSpPr>
          <p:cNvPr id="28" name="AutoShape 28"/>
          <p:cNvSpPr/>
          <p:nvPr/>
        </p:nvSpPr>
        <p:spPr>
          <a:xfrm>
            <a:off x="8064500" y="4508500"/>
            <a:ext cx="3492500" cy="1397000"/>
          </a:xfrm>
          <a:prstGeom prst="roundRect">
            <a:avLst>
              <a:gd name="adj" fmla="val 0"/>
            </a:avLst>
          </a:prstGeom>
          <a:solidFill>
            <a:srgbClr val="2D3748">
              <a:alpha val="88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8191500" y="4635500"/>
            <a:ext cx="3238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临床应用价值</a:t>
            </a:r>
            <a:endParaRPr lang="en-US" sz="1100"/>
          </a:p>
        </p:txBody>
      </p:sp>
      <p:sp>
        <p:nvSpPr>
          <p:cNvPr id="30" name="AutoShape 30"/>
          <p:cNvSpPr/>
          <p:nvPr/>
        </p:nvSpPr>
        <p:spPr>
          <a:xfrm>
            <a:off x="8191500" y="5016500"/>
            <a:ext cx="3238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标准化的元数据体系打破了厂商壁垒，让不同设备产生的影像在PACS系统中实现了高效的索引、传输与精准阅片，是现代数字化医疗的基石。</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143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PACS与HIS/LIS的集成：实现“图文一体化”</a:t>
            </a:r>
            <a:endParaRPr lang="en-US" sz="1100"/>
          </a:p>
        </p:txBody>
      </p:sp>
      <p:sp>
        <p:nvSpPr>
          <p:cNvPr id="4" name="AutoShape 4"/>
          <p:cNvSpPr/>
          <p:nvPr/>
        </p:nvSpPr>
        <p:spPr>
          <a:xfrm>
            <a:off x="762000" y="1397000"/>
            <a:ext cx="10668000" cy="889000"/>
          </a:xfrm>
          <a:prstGeom prst="roundRect">
            <a:avLst>
              <a:gd name="adj" fmla="val 0"/>
            </a:avLst>
          </a:prstGeom>
          <a:solidFill>
            <a:srgbClr val="FFFFFF">
              <a:alpha val="88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460500"/>
            <a:ext cx="1028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2D3748">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PACS系统并非孤立存在，而是与HIS（医院信息系统）和LIS（实验室信息系统）进行深度业务集成。这种集成打通了医院内部的信息孤岛，让影像数据流与临床业务流无缝衔接，从而构建起高效的数字化诊疗闭环。</a:t>
            </a:r>
            <a:endParaRPr lang="en-US" sz="1100"/>
          </a:p>
        </p:txBody>
      </p:sp>
      <p:sp>
        <p:nvSpPr>
          <p:cNvPr id="6" name="AutoShape 6"/>
          <p:cNvSpPr/>
          <p:nvPr/>
        </p:nvSpPr>
        <p:spPr>
          <a:xfrm>
            <a:off x="762000" y="2476500"/>
            <a:ext cx="2057400" cy="2222500"/>
          </a:xfrm>
          <a:prstGeom prst="roundRect">
            <a:avLst>
              <a:gd name="adj" fmla="val 0"/>
            </a:avLst>
          </a:prstGeom>
          <a:solidFill>
            <a:srgbClr val="4FD1C5">
              <a:alpha val="2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825500" y="2603500"/>
            <a:ext cx="19304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8" name="AutoShape 8"/>
          <p:cNvSpPr/>
          <p:nvPr/>
        </p:nvSpPr>
        <p:spPr>
          <a:xfrm>
            <a:off x="825500" y="3238500"/>
            <a:ext cx="1930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发起影像申请</a:t>
            </a:r>
            <a:endParaRPr lang="en-US" sz="1100"/>
          </a:p>
        </p:txBody>
      </p:sp>
      <p:sp>
        <p:nvSpPr>
          <p:cNvPr id="9" name="AutoShape 9"/>
          <p:cNvSpPr/>
          <p:nvPr/>
        </p:nvSpPr>
        <p:spPr>
          <a:xfrm>
            <a:off x="825500" y="3746500"/>
            <a:ext cx="19304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临床医生在HIS系统中，根据患者病情直接开具影像检查医嘱，确立检查部位与项目。</a:t>
            </a:r>
            <a:endParaRPr lang="en-US" sz="1100"/>
          </a:p>
        </p:txBody>
      </p:sp>
      <p:sp>
        <p:nvSpPr>
          <p:cNvPr id="10" name="AutoShape 10"/>
          <p:cNvSpPr/>
          <p:nvPr/>
        </p:nvSpPr>
        <p:spPr>
          <a:xfrm>
            <a:off x="2959100" y="2476500"/>
            <a:ext cx="2057400" cy="2222500"/>
          </a:xfrm>
          <a:prstGeom prst="roundRect">
            <a:avLst>
              <a:gd name="adj" fmla="val 0"/>
            </a:avLst>
          </a:prstGeom>
          <a:solidFill>
            <a:srgbClr val="4FD1C5">
              <a:alpha val="22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3022600" y="2603500"/>
            <a:ext cx="19304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2" name="AutoShape 12"/>
          <p:cNvSpPr/>
          <p:nvPr/>
        </p:nvSpPr>
        <p:spPr>
          <a:xfrm>
            <a:off x="3022600" y="3238500"/>
            <a:ext cx="1930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数据自动同步</a:t>
            </a:r>
            <a:endParaRPr lang="en-US" sz="1100"/>
          </a:p>
        </p:txBody>
      </p:sp>
      <p:sp>
        <p:nvSpPr>
          <p:cNvPr id="13" name="AutoShape 13"/>
          <p:cNvSpPr/>
          <p:nvPr/>
        </p:nvSpPr>
        <p:spPr>
          <a:xfrm>
            <a:off x="3022600" y="3746500"/>
            <a:ext cx="19304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患者基本信息与检查申请单通过HL7标准协议，实时推送到PACS系统，免去重复录入。</a:t>
            </a:r>
            <a:endParaRPr lang="en-US" sz="1100"/>
          </a:p>
        </p:txBody>
      </p:sp>
      <p:sp>
        <p:nvSpPr>
          <p:cNvPr id="14" name="AutoShape 14"/>
          <p:cNvSpPr/>
          <p:nvPr/>
        </p:nvSpPr>
        <p:spPr>
          <a:xfrm>
            <a:off x="5156200" y="2476500"/>
            <a:ext cx="2057400" cy="2222500"/>
          </a:xfrm>
          <a:prstGeom prst="roundRect">
            <a:avLst>
              <a:gd name="adj" fmla="val 0"/>
            </a:avLst>
          </a:prstGeom>
          <a:solidFill>
            <a:srgbClr val="4FD1C5">
              <a:alpha val="22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5219700" y="2603500"/>
            <a:ext cx="19304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6" name="AutoShape 16"/>
          <p:cNvSpPr/>
          <p:nvPr/>
        </p:nvSpPr>
        <p:spPr>
          <a:xfrm>
            <a:off x="5219700" y="3238500"/>
            <a:ext cx="1930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执行影像检查</a:t>
            </a:r>
            <a:endParaRPr lang="en-US" sz="1100"/>
          </a:p>
        </p:txBody>
      </p:sp>
      <p:sp>
        <p:nvSpPr>
          <p:cNvPr id="17" name="AutoShape 17"/>
          <p:cNvSpPr/>
          <p:nvPr/>
        </p:nvSpPr>
        <p:spPr>
          <a:xfrm>
            <a:off x="5219700" y="3746500"/>
            <a:ext cx="19304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放射科技师在PACS工作站接收任务，完成患者扫描与影像采集，并进行初步的技术处理。</a:t>
            </a:r>
            <a:endParaRPr lang="en-US" sz="1100"/>
          </a:p>
        </p:txBody>
      </p:sp>
      <p:sp>
        <p:nvSpPr>
          <p:cNvPr id="18" name="AutoShape 18"/>
          <p:cNvSpPr/>
          <p:nvPr/>
        </p:nvSpPr>
        <p:spPr>
          <a:xfrm>
            <a:off x="7353300" y="2476500"/>
            <a:ext cx="2057400" cy="2222500"/>
          </a:xfrm>
          <a:prstGeom prst="roundRect">
            <a:avLst>
              <a:gd name="adj" fmla="val 0"/>
            </a:avLst>
          </a:prstGeom>
          <a:solidFill>
            <a:srgbClr val="4FD1C5">
              <a:alpha val="2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416800" y="2603500"/>
            <a:ext cx="19304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0" name="AutoShape 20"/>
          <p:cNvSpPr/>
          <p:nvPr/>
        </p:nvSpPr>
        <p:spPr>
          <a:xfrm>
            <a:off x="7416800" y="3238500"/>
            <a:ext cx="1930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报告回传归档</a:t>
            </a:r>
            <a:endParaRPr lang="en-US" sz="1100"/>
          </a:p>
        </p:txBody>
      </p:sp>
      <p:sp>
        <p:nvSpPr>
          <p:cNvPr id="21" name="AutoShape 21"/>
          <p:cNvSpPr/>
          <p:nvPr/>
        </p:nvSpPr>
        <p:spPr>
          <a:xfrm>
            <a:off x="7416800" y="3746500"/>
            <a:ext cx="19304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诊断医生完成报告撰写审核后，报告结果自动回传至HIS，形成完整的检查记录档案。</a:t>
            </a:r>
            <a:endParaRPr lang="en-US" sz="1100"/>
          </a:p>
        </p:txBody>
      </p:sp>
      <p:sp>
        <p:nvSpPr>
          <p:cNvPr id="22" name="AutoShape 22"/>
          <p:cNvSpPr/>
          <p:nvPr/>
        </p:nvSpPr>
        <p:spPr>
          <a:xfrm>
            <a:off x="9550400" y="2476500"/>
            <a:ext cx="2057400" cy="2222500"/>
          </a:xfrm>
          <a:prstGeom prst="roundRect">
            <a:avLst>
              <a:gd name="adj" fmla="val 0"/>
            </a:avLst>
          </a:prstGeom>
          <a:solidFill>
            <a:srgbClr val="4FD1C5">
              <a:alpha val="22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9613900" y="2603500"/>
            <a:ext cx="19304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4" name="AutoShape 24"/>
          <p:cNvSpPr/>
          <p:nvPr/>
        </p:nvSpPr>
        <p:spPr>
          <a:xfrm>
            <a:off x="9613900" y="3238500"/>
            <a:ext cx="1930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临床阅片诊断</a:t>
            </a:r>
            <a:endParaRPr lang="en-US" sz="1100"/>
          </a:p>
        </p:txBody>
      </p:sp>
      <p:sp>
        <p:nvSpPr>
          <p:cNvPr id="25" name="AutoShape 25"/>
          <p:cNvSpPr/>
          <p:nvPr/>
        </p:nvSpPr>
        <p:spPr>
          <a:xfrm>
            <a:off x="9613900" y="3746500"/>
            <a:ext cx="19304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医生无需切换系统，在HIS的电子病历界面即可直接调阅原始影像与诊断报告，辅助诊疗。</a:t>
            </a:r>
            <a:endParaRPr lang="en-US" sz="1100"/>
          </a:p>
        </p:txBody>
      </p:sp>
      <p:sp>
        <p:nvSpPr>
          <p:cNvPr id="26" name="AutoShape 26"/>
          <p:cNvSpPr/>
          <p:nvPr/>
        </p:nvSpPr>
        <p:spPr>
          <a:xfrm>
            <a:off x="762000" y="4889500"/>
            <a:ext cx="10845800" cy="1460500"/>
          </a:xfrm>
          <a:prstGeom prst="roundRect">
            <a:avLst>
              <a:gd name="adj" fmla="val 0"/>
            </a:avLst>
          </a:prstGeom>
          <a:solidFill>
            <a:srgbClr val="F0FAF9">
              <a:alpha val="94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762000" y="4889500"/>
            <a:ext cx="76200" cy="1460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1016000" y="4978400"/>
            <a:ext cx="1016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核心价值：全流程“图文一体化”带来的诊疗变革</a:t>
            </a:r>
            <a:endParaRPr lang="en-US" sz="1100"/>
          </a:p>
        </p:txBody>
      </p:sp>
      <p:sp>
        <p:nvSpPr>
          <p:cNvPr id="29" name="AutoShape 29"/>
          <p:cNvSpPr/>
          <p:nvPr/>
        </p:nvSpPr>
        <p:spPr>
          <a:xfrm>
            <a:off x="1016000" y="5486400"/>
            <a:ext cx="10287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3C4B5A"/>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一集成模式彻底打破了传统信息壁垒，实现了影像数据与临床业务的无缝融合。医生在单一工作界面即可完成从病历查阅、检验结果到影像诊断的全流程操作，不仅大幅缩短了诊断等待时间，更通过信息的实时互通与直观呈现，显著提升了临床决策的效率与准确性，为患者提供更高效、精准的现代化医疗服务。</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81000" y="2286000"/>
            <a:ext cx="11430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03. 临床检验信息系统 (LIS) 解析</a:t>
            </a:r>
            <a:endParaRPr lang="en-US" sz="1100"/>
          </a:p>
        </p:txBody>
      </p:sp>
      <p:sp>
        <p:nvSpPr>
          <p:cNvPr id="5" name="AutoShape 5"/>
          <p:cNvSpPr/>
          <p:nvPr/>
        </p:nvSpPr>
        <p:spPr>
          <a:xfrm>
            <a:off x="1651000" y="3873500"/>
            <a:ext cx="8890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LIS (Laboratory Information System) 是专为临床检验科设计的专业信息系统，贯穿了检验全生命周期的数字化管理。从检验申请的提交、患者样本的采集流转，到上机自动化检测与数据抓取，再到最终结果的审核、报告生成与归档，它是检验科的核心业务中枢。通过标准化流程与智能质控，LIS 有效减少了人为误差，大幅提升了检验效率，同时为临床诊疗提供了及时、准确、可追溯的实验诊断依据。</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79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临床检验信息系统 (LIS) 解析</a:t>
            </a:r>
            <a:endParaRPr lang="en-US" sz="1100"/>
          </a:p>
        </p:txBody>
      </p:sp>
      <p:sp>
        <p:nvSpPr>
          <p:cNvPr id="4" name="AutoShape 4"/>
          <p:cNvSpPr/>
          <p:nvPr/>
        </p:nvSpPr>
        <p:spPr>
          <a:xfrm>
            <a:off x="762000" y="1778000"/>
            <a:ext cx="3492500" cy="2921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778000"/>
            <a:ext cx="50800" cy="2921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19685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全流程样本闭环管理</a:t>
            </a:r>
            <a:endParaRPr lang="en-US" sz="1100"/>
          </a:p>
        </p:txBody>
      </p:sp>
      <p:sp>
        <p:nvSpPr>
          <p:cNvPr id="7" name="AutoShape 7"/>
          <p:cNvSpPr/>
          <p:nvPr/>
        </p:nvSpPr>
        <p:spPr>
          <a:xfrm>
            <a:off x="1016000" y="2794000"/>
            <a:ext cx="3111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覆盖从检验申请、样本采集、物流传输到上机检测、结果审核的全生命周期。通过条码化与电子化流转，彻底杜绝样本丢失与信息错配，显著提升检验科的标准化作业效率与样本管理安全性。</a:t>
            </a:r>
            <a:endParaRPr lang="en-US" sz="1100"/>
          </a:p>
        </p:txBody>
      </p:sp>
      <p:sp>
        <p:nvSpPr>
          <p:cNvPr id="8" name="AutoShape 8"/>
          <p:cNvSpPr/>
          <p:nvPr/>
        </p:nvSpPr>
        <p:spPr>
          <a:xfrm>
            <a:off x="4445000" y="1778000"/>
            <a:ext cx="3492500" cy="2921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445000" y="1778000"/>
            <a:ext cx="50800" cy="2921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699000" y="19685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多设备无缝数据互联</a:t>
            </a:r>
            <a:endParaRPr lang="en-US" sz="1100"/>
          </a:p>
        </p:txBody>
      </p:sp>
      <p:sp>
        <p:nvSpPr>
          <p:cNvPr id="11" name="AutoShape 11"/>
          <p:cNvSpPr/>
          <p:nvPr/>
        </p:nvSpPr>
        <p:spPr>
          <a:xfrm>
            <a:off x="4699000" y="2794000"/>
            <a:ext cx="3111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打破不同品牌检验仪器间的“信息孤岛”，实现双向通讯与数据的实时自动抓取。数据无需人工转录即可直接生成结构化电子报告，大幅降低人为录入错误率，让检验数据的流转更加高效、准确与可追溯。</a:t>
            </a:r>
            <a:endParaRPr lang="en-US" sz="1100"/>
          </a:p>
        </p:txBody>
      </p:sp>
      <p:sp>
        <p:nvSpPr>
          <p:cNvPr id="12" name="AutoShape 12"/>
          <p:cNvSpPr/>
          <p:nvPr/>
        </p:nvSpPr>
        <p:spPr>
          <a:xfrm>
            <a:off x="8128000" y="1778000"/>
            <a:ext cx="3492500" cy="2921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128000" y="1778000"/>
            <a:ext cx="50800" cy="2921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8382000" y="19685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辅助临床精准诊疗</a:t>
            </a:r>
            <a:endParaRPr lang="en-US" sz="1100"/>
          </a:p>
        </p:txBody>
      </p:sp>
      <p:sp>
        <p:nvSpPr>
          <p:cNvPr id="15" name="AutoShape 15"/>
          <p:cNvSpPr/>
          <p:nvPr/>
        </p:nvSpPr>
        <p:spPr>
          <a:xfrm>
            <a:off x="8382000" y="2794000"/>
            <a:ext cx="3111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基于标准化的检验数据，为临床医生提供及时、客观的诊断依据。系统支持危急值自动预警与历史结果智能比对，帮助医生快速发现病情变化，从而制定更具针对性的个性化治疗方案，缩短患者诊疗周期。</a:t>
            </a:r>
            <a:endParaRPr lang="en-US" sz="1100"/>
          </a:p>
        </p:txBody>
      </p:sp>
      <p:sp>
        <p:nvSpPr>
          <p:cNvPr id="16" name="AutoShape 16"/>
          <p:cNvSpPr/>
          <p:nvPr/>
        </p:nvSpPr>
        <p:spPr>
          <a:xfrm>
            <a:off x="762000" y="4953000"/>
            <a:ext cx="10858500" cy="1397000"/>
          </a:xfrm>
          <a:prstGeom prst="roundRect">
            <a:avLst>
              <a:gd name="adj" fmla="val 0"/>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1016000" y="5143500"/>
            <a:ext cx="1041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作为连接临床科室与医学实验室的关键数字枢纽，LIS 不仅是检验业务的执行平台，更是医疗质量控制的核心工具。它通过数字化手段重塑了检验工作流，从样本接收到结果输出的每一个环节都更加透明、可控，最终为医疗服务的安全性与精准度提供了强有力的技术支撑。</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LIS系统定义与核心功能</a:t>
            </a:r>
            <a:endParaRPr lang="en-US" sz="1100"/>
          </a:p>
        </p:txBody>
      </p:sp>
      <p:sp>
        <p:nvSpPr>
          <p:cNvPr id="4" name="AutoShape 4"/>
          <p:cNvSpPr/>
          <p:nvPr/>
        </p:nvSpPr>
        <p:spPr>
          <a:xfrm>
            <a:off x="762000" y="1397000"/>
            <a:ext cx="10668000" cy="10795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460500"/>
            <a:ext cx="10287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LIS（Laboratory Information System）是专为医院检验科设计的专业信息系统，通过数字化手段统筹管理从检验医嘱申请、样本流转、上机检测到最终报告审核发布的全业务流程，是连接临床科室、检验科与医疗仪器的核心信息化枢纽。</a:t>
            </a:r>
            <a:endParaRPr lang="en-US" sz="1100"/>
          </a:p>
        </p:txBody>
      </p:sp>
      <p:sp>
        <p:nvSpPr>
          <p:cNvPr id="6" name="AutoShape 6"/>
          <p:cNvSpPr/>
          <p:nvPr/>
        </p:nvSpPr>
        <p:spPr>
          <a:xfrm>
            <a:off x="762000" y="2667000"/>
            <a:ext cx="3378200" cy="1841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667000"/>
            <a:ext cx="33782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14400" y="2819400"/>
            <a:ext cx="3073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检验申请管理</a:t>
            </a:r>
            <a:endParaRPr lang="en-US" sz="1100"/>
          </a:p>
        </p:txBody>
      </p:sp>
      <p:sp>
        <p:nvSpPr>
          <p:cNvPr id="9" name="AutoShape 9"/>
          <p:cNvSpPr/>
          <p:nvPr/>
        </p:nvSpPr>
        <p:spPr>
          <a:xfrm>
            <a:off x="914400" y="3302000"/>
            <a:ext cx="30734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无缝对接医院HIS系统，自动接收临床检验医嘱，智能解析并生成标准化检验任务单，避免人工录入误差，实现医嘱流转的自动化与无纸化。</a:t>
            </a:r>
            <a:endParaRPr lang="en-US" sz="1100"/>
          </a:p>
        </p:txBody>
      </p:sp>
      <p:sp>
        <p:nvSpPr>
          <p:cNvPr id="10" name="AutoShape 10"/>
          <p:cNvSpPr/>
          <p:nvPr/>
        </p:nvSpPr>
        <p:spPr>
          <a:xfrm>
            <a:off x="4394200" y="2667000"/>
            <a:ext cx="3378200" cy="1841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4394200" y="2667000"/>
            <a:ext cx="33782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546600" y="2819400"/>
            <a:ext cx="3073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样本全周期管理</a:t>
            </a:r>
            <a:endParaRPr lang="en-US" sz="1100"/>
          </a:p>
        </p:txBody>
      </p:sp>
      <p:sp>
        <p:nvSpPr>
          <p:cNvPr id="13" name="AutoShape 13"/>
          <p:cNvSpPr/>
          <p:nvPr/>
        </p:nvSpPr>
        <p:spPr>
          <a:xfrm>
            <a:off x="4546600" y="3302000"/>
            <a:ext cx="30734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覆盖样本采集后的登记、唯一条码标识、核收签收、离心分杯、上机传递及储存归档全流程，通过条码化追踪，确保样本在流转中可追溯、零差错。</a:t>
            </a:r>
            <a:endParaRPr lang="en-US" sz="1100"/>
          </a:p>
        </p:txBody>
      </p:sp>
      <p:sp>
        <p:nvSpPr>
          <p:cNvPr id="14" name="AutoShape 14"/>
          <p:cNvSpPr/>
          <p:nvPr/>
        </p:nvSpPr>
        <p:spPr>
          <a:xfrm>
            <a:off x="8026400" y="2667000"/>
            <a:ext cx="3378200" cy="1841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8026400" y="2667000"/>
            <a:ext cx="33782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178800" y="2819400"/>
            <a:ext cx="30734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仪器联机与采集</a:t>
            </a:r>
            <a:endParaRPr lang="en-US" sz="1100"/>
          </a:p>
        </p:txBody>
      </p:sp>
      <p:sp>
        <p:nvSpPr>
          <p:cNvPr id="17" name="AutoShape 17"/>
          <p:cNvSpPr/>
          <p:nvPr/>
        </p:nvSpPr>
        <p:spPr>
          <a:xfrm>
            <a:off x="8178800" y="3302000"/>
            <a:ext cx="30734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支持与生化、免疫、血液等各类自动化检验仪器双向通讯，实时自动采集原始检验数据，替代手工录入，大幅提升检测效率与数据准确性。</a:t>
            </a:r>
            <a:endParaRPr lang="en-US" sz="1100"/>
          </a:p>
        </p:txBody>
      </p:sp>
      <p:sp>
        <p:nvSpPr>
          <p:cNvPr id="18" name="AutoShape 18"/>
          <p:cNvSpPr/>
          <p:nvPr/>
        </p:nvSpPr>
        <p:spPr>
          <a:xfrm>
            <a:off x="762000" y="4635500"/>
            <a:ext cx="5245100" cy="1841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762000" y="4635500"/>
            <a:ext cx="52451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14400" y="47625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结果审核与报告闭环</a:t>
            </a:r>
            <a:endParaRPr lang="en-US" sz="1100"/>
          </a:p>
        </p:txBody>
      </p:sp>
      <p:sp>
        <p:nvSpPr>
          <p:cNvPr id="21" name="AutoShape 21"/>
          <p:cNvSpPr/>
          <p:nvPr/>
        </p:nvSpPr>
        <p:spPr>
          <a:xfrm>
            <a:off x="914400" y="5270500"/>
            <a:ext cx="488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提供图形化、规则化的智能审核界面，辅助检验技师快速判断结果有效性。审核通过后，规范化的检验报告可自动回传至HIS系统，让临床医生即时调阅，形成诊疗数据的高效闭环。</a:t>
            </a:r>
            <a:endParaRPr lang="en-US" sz="1100"/>
          </a:p>
        </p:txBody>
      </p:sp>
      <p:sp>
        <p:nvSpPr>
          <p:cNvPr id="22" name="AutoShape 22"/>
          <p:cNvSpPr/>
          <p:nvPr/>
        </p:nvSpPr>
        <p:spPr>
          <a:xfrm>
            <a:off x="6223000" y="4635500"/>
            <a:ext cx="5245100" cy="1841500"/>
          </a:xfrm>
          <a:prstGeom prst="roundRect">
            <a:avLst>
              <a:gd name="adj" fmla="val 0"/>
            </a:avLst>
          </a:prstGeom>
          <a:solidFill>
            <a:srgbClr val="FFFFFF">
              <a:alpha val="94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223000" y="4635500"/>
            <a:ext cx="52451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375400" y="4762500"/>
            <a:ext cx="488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全程质量控制 (QC) 体系</a:t>
            </a:r>
            <a:endParaRPr lang="en-US" sz="1100"/>
          </a:p>
        </p:txBody>
      </p:sp>
      <p:sp>
        <p:nvSpPr>
          <p:cNvPr id="25" name="AutoShape 25"/>
          <p:cNvSpPr/>
          <p:nvPr/>
        </p:nvSpPr>
        <p:spPr>
          <a:xfrm>
            <a:off x="6375400" y="5270500"/>
            <a:ext cx="488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内置Westgard等国际通用质控规则，自动绘制质控图并监控失控情况。系统可对失控项目进行锁定，强制介入处理，从技术层面保障每一份检验结果的科学性与可靠性，符合实验室ISO质量标准。</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LIS核心数据结构：样本与项目</a:t>
            </a:r>
            <a:endParaRPr lang="en-US" sz="1100"/>
          </a:p>
        </p:txBody>
      </p:sp>
      <p:sp>
        <p:nvSpPr>
          <p:cNvPr id="4" name="AutoShape 4"/>
          <p:cNvSpPr/>
          <p:nvPr/>
        </p:nvSpPr>
        <p:spPr>
          <a:xfrm>
            <a:off x="762000" y="1397000"/>
            <a:ext cx="5270500" cy="5080000"/>
          </a:xfrm>
          <a:prstGeom prst="roundRect">
            <a:avLst>
              <a:gd name="adj" fmla="val 0"/>
            </a:avLst>
          </a:prstGeom>
          <a:solidFill>
            <a:srgbClr val="FFFFFF">
              <a:alpha val="92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397000"/>
            <a:ext cx="52705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587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检验申请/样本信息表 (SampleInfo)</a:t>
            </a:r>
            <a:endParaRPr lang="en-US" sz="1100"/>
          </a:p>
        </p:txBody>
      </p:sp>
      <p:sp>
        <p:nvSpPr>
          <p:cNvPr id="7" name="AutoShape 7"/>
          <p:cNvSpPr/>
          <p:nvPr/>
        </p:nvSpPr>
        <p:spPr>
          <a:xfrm>
            <a:off x="952500" y="21590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LIS系统的核心数据入口，承载从HIS系统同步的医嘱申请与患者生物学样本的基础信息，是检验业务流转的“第一手资料”，贯穿样本采集、核收、检测至报告发布的全流程。</a:t>
            </a:r>
            <a:endParaRPr lang="en-US" sz="1100"/>
          </a:p>
        </p:txBody>
      </p:sp>
      <p:graphicFrame>
        <p:nvGraphicFramePr>
          <p:cNvPr id="8" name="Table 8"/>
          <p:cNvGraphicFramePr>
            <a:graphicFrameLocks noGrp="1"/>
          </p:cNvGraphicFramePr>
          <p:nvPr/>
        </p:nvGraphicFramePr>
        <p:xfrm>
          <a:off x="952500" y="3048000"/>
          <a:ext cx="4889500" cy="1549400"/>
        </p:xfrm>
        <a:graphic>
          <a:graphicData uri="http://schemas.openxmlformats.org/drawingml/2006/table">
            <a:tbl>
              <a:tblPr>
                <a:effectLst/>
              </a:tblPr>
              <a:tblGrid>
                <a:gridCol w="1460500"/>
                <a:gridCol w="1333500"/>
                <a:gridCol w="2095500"/>
              </a:tblGrid>
              <a:tr h="406400">
                <a:tc>
                  <a:txBody>
                    <a:bodyPr rtlCol="0"/>
                    <a:lstStyle/>
                    <a:p>
                      <a:pPr marL="0" indent="0" algn="ctr">
                        <a:lnSpc>
                          <a:spcPct val="100000"/>
                        </a:lnSpc>
                        <a:defRPr/>
                      </a:pPr>
                      <a:r>
                        <a:rPr lang="en-US" sz="1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关键字段</a:t>
                      </a:r>
                      <a:endParaRPr lang="en-US" sz="1100"/>
                    </a:p>
                  </a:txBody>
                  <a:tcPr marL="101600" marR="101600" marT="101600" marB="101600" anchor="t" anchorCtr="0">
                    <a:lnL>
                      <a:noFill/>
                    </a:lnL>
                    <a:lnR>
                      <a:noFill/>
                    </a:lnR>
                    <a:lnT>
                      <a:noFill/>
                    </a:lnT>
                    <a:lnB>
                      <a:noFill/>
                    </a:lnB>
                    <a:solidFill>
                      <a:srgbClr val="4FD1C5">
                        <a:alpha val="18000"/>
                      </a:srgbClr>
                    </a:solidFill>
                  </a:tcPr>
                </a:tc>
                <a:tc>
                  <a:txBody>
                    <a:bodyPr rtlCol="0"/>
                    <a:lstStyle/>
                    <a:p>
                      <a:pPr marL="0" indent="0" algn="ctr">
                        <a:lnSpc>
                          <a:spcPct val="100000"/>
                        </a:lnSpc>
                        <a:defRPr/>
                      </a:pPr>
                      <a:r>
                        <a:rPr lang="en-US" sz="1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数据类型</a:t>
                      </a:r>
                      <a:endParaRPr lang="en-US" sz="1100"/>
                    </a:p>
                  </a:txBody>
                  <a:tcPr marL="101600" marR="101600" marT="101600" marB="101600" anchor="t" anchorCtr="0">
                    <a:lnL>
                      <a:noFill/>
                    </a:lnL>
                    <a:lnR>
                      <a:noFill/>
                    </a:lnR>
                    <a:lnT>
                      <a:noFill/>
                    </a:lnT>
                    <a:lnB>
                      <a:noFill/>
                    </a:lnB>
                    <a:solidFill>
                      <a:srgbClr val="4FD1C5">
                        <a:alpha val="18000"/>
                      </a:srgbClr>
                    </a:solidFill>
                  </a:tcPr>
                </a:tc>
                <a:tc>
                  <a:txBody>
                    <a:bodyPr rtlCol="0"/>
                    <a:lstStyle/>
                    <a:p>
                      <a:pPr marL="0" indent="0" algn="ctr">
                        <a:lnSpc>
                          <a:spcPct val="100000"/>
                        </a:lnSpc>
                        <a:defRPr/>
                      </a:pPr>
                      <a:r>
                        <a:rPr lang="en-US" sz="1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核心含义</a:t>
                      </a:r>
                      <a:endParaRPr lang="en-US" sz="1100"/>
                    </a:p>
                  </a:txBody>
                  <a:tcPr marL="101600" marR="101600" marT="101600" marB="101600" anchor="t" anchorCtr="0">
                    <a:lnL>
                      <a:noFill/>
                    </a:lnL>
                    <a:lnR>
                      <a:noFill/>
                    </a:lnR>
                    <a:lnT>
                      <a:noFill/>
                    </a:lnT>
                    <a:lnB>
                      <a:noFill/>
                    </a:lnB>
                    <a:solidFill>
                      <a:srgbClr val="4FD1C5">
                        <a:alpha val="18000"/>
                      </a:srgbClr>
                    </a:solidFill>
                  </a:tcPr>
                </a:tc>
              </a:tr>
              <a:tr h="381000">
                <a:tc>
                  <a:txBody>
                    <a:bodyPr rtlCol="0"/>
                    <a:lstStyle/>
                    <a:p>
                      <a:pPr marL="0" indent="0" algn="ctr">
                        <a:lnSpc>
                          <a:spcPct val="100000"/>
                        </a:lnSpc>
                        <a:defRPr/>
                      </a:pPr>
                      <a:r>
                        <a:rPr lang="en-US" sz="1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SampleID</a:t>
                      </a:r>
                      <a:endParaRPr lang="en-US" sz="1100"/>
                    </a:p>
                  </a:txBody>
                  <a:tcPr marL="101600" marR="101600" marT="101600" marB="101600" anchor="t" anchorCtr="0">
                    <a:lnL>
                      <a:noFill/>
                    </a:lnL>
                    <a:lnR>
                      <a:noFill/>
                    </a:lnR>
                    <a:lnT>
                      <a:noFill/>
                    </a:lnT>
                    <a:lnB>
                      <a:noFill/>
                    </a:lnB>
                    <a:solidFill>
                      <a:srgbClr val="F7FAFC">
                        <a:alpha val="100000"/>
                      </a:srgbClr>
                    </a:solidFill>
                  </a:tcPr>
                </a:tc>
                <a:tc>
                  <a:txBody>
                    <a:bodyPr rtlCol="0"/>
                    <a:lstStyle/>
                    <a:p>
                      <a:pPr marL="0" indent="0" algn="ctr">
                        <a:lnSpc>
                          <a:spcPct val="100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VARCHAR(50)</a:t>
                      </a:r>
                      <a:endParaRPr lang="en-US" sz="1100"/>
                    </a:p>
                  </a:txBody>
                  <a:tcPr marL="101600" marR="101600" marT="101600" marB="101600" anchor="t" anchorCtr="0">
                    <a:lnL>
                      <a:noFill/>
                    </a:lnL>
                    <a:lnR>
                      <a:noFill/>
                    </a:lnR>
                    <a:lnT>
                      <a:noFill/>
                    </a:lnT>
                    <a:lnB>
                      <a:noFill/>
                    </a:lnB>
                    <a:solidFill>
                      <a:srgbClr val="F7FAFC">
                        <a:alpha val="100000"/>
                      </a:srgbClr>
                    </a:solidFill>
                  </a:tcPr>
                </a:tc>
                <a:tc>
                  <a:txBody>
                    <a:bodyPr rtlCol="0"/>
                    <a:lstStyle/>
                    <a:p>
                      <a:pPr marL="0" indent="0" algn="l">
                        <a:lnSpc>
                          <a:spcPct val="100000"/>
                        </a:lnSpc>
                        <a:defRPr/>
                      </a:pP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样本唯一主键，通常对应试管条码，确保样本身份唯一。</a:t>
                      </a:r>
                      <a:endParaRPr lang="en-US" sz="1100"/>
                    </a:p>
                  </a:txBody>
                  <a:tcPr marL="101600" marR="101600" marT="101600" marB="101600" anchor="t" anchorCtr="0">
                    <a:lnL>
                      <a:noFill/>
                    </a:lnL>
                    <a:lnR>
                      <a:noFill/>
                    </a:lnR>
                    <a:lnT>
                      <a:noFill/>
                    </a:lnT>
                    <a:lnB>
                      <a:noFill/>
                    </a:lnB>
                    <a:solidFill>
                      <a:srgbClr val="F7FAFC">
                        <a:alpha val="100000"/>
                      </a:srgbClr>
                    </a:solidFill>
                  </a:tcPr>
                </a:tc>
              </a:tr>
              <a:tr h="381000">
                <a:tc>
                  <a:txBody>
                    <a:bodyPr rtlCol="0"/>
                    <a:lstStyle/>
                    <a:p>
                      <a:pPr marL="0" indent="0" algn="ctr">
                        <a:lnSpc>
                          <a:spcPct val="100000"/>
                        </a:lnSpc>
                        <a:defRPr/>
                      </a:pPr>
                      <a:r>
                        <a:rPr lang="en-US" sz="1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OrderID_HIS</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0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VARCHAR(50)</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l">
                        <a:lnSpc>
                          <a:spcPct val="100000"/>
                        </a:lnSpc>
                        <a:defRPr/>
                      </a:pP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关联HIS系统的医嘱流水号，实现业务闭环。</a:t>
                      </a:r>
                      <a:endParaRPr lang="en-US" sz="1100"/>
                    </a:p>
                  </a:txBody>
                  <a:tcPr marL="101600" marR="101600" marT="101600" marB="101600" anchor="t" anchorCtr="0">
                    <a:lnL>
                      <a:noFill/>
                    </a:lnL>
                    <a:lnR>
                      <a:noFill/>
                    </a:lnR>
                    <a:lnT>
                      <a:noFill/>
                    </a:lnT>
                    <a:lnB>
                      <a:noFill/>
                    </a:lnB>
                    <a:solidFill>
                      <a:srgbClr val="FFFFFF">
                        <a:alpha val="100000"/>
                      </a:srgbClr>
                    </a:solidFill>
                  </a:tcPr>
                </a:tc>
              </a:tr>
              <a:tr h="381000">
                <a:tc>
                  <a:txBody>
                    <a:bodyPr rtlCol="0"/>
                    <a:lstStyle/>
                    <a:p>
                      <a:pPr marL="0" indent="0" algn="ctr">
                        <a:lnSpc>
                          <a:spcPct val="100000"/>
                        </a:lnSpc>
                        <a:defRPr/>
                      </a:pPr>
                      <a:r>
                        <a:rPr lang="en-US" sz="1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SampleStatus</a:t>
                      </a:r>
                      <a:endParaRPr lang="en-US" sz="1100"/>
                    </a:p>
                  </a:txBody>
                  <a:tcPr marL="101600" marR="101600" marT="101600" marB="101600" anchor="t" anchorCtr="0">
                    <a:lnL>
                      <a:noFill/>
                    </a:lnL>
                    <a:lnR>
                      <a:noFill/>
                    </a:lnR>
                    <a:lnT>
                      <a:noFill/>
                    </a:lnT>
                    <a:lnB>
                      <a:noFill/>
                    </a:lnB>
                    <a:solidFill>
                      <a:srgbClr val="F7FAFC">
                        <a:alpha val="100000"/>
                      </a:srgbClr>
                    </a:solidFill>
                  </a:tcPr>
                </a:tc>
                <a:tc>
                  <a:txBody>
                    <a:bodyPr rtlCol="0"/>
                    <a:lstStyle/>
                    <a:p>
                      <a:pPr marL="0" indent="0" algn="ctr">
                        <a:lnSpc>
                          <a:spcPct val="100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VARCHAR(20)</a:t>
                      </a:r>
                      <a:endParaRPr lang="en-US" sz="1100"/>
                    </a:p>
                  </a:txBody>
                  <a:tcPr marL="101600" marR="101600" marT="101600" marB="101600" anchor="t" anchorCtr="0">
                    <a:lnL>
                      <a:noFill/>
                    </a:lnL>
                    <a:lnR>
                      <a:noFill/>
                    </a:lnR>
                    <a:lnT>
                      <a:noFill/>
                    </a:lnT>
                    <a:lnB>
                      <a:noFill/>
                    </a:lnB>
                    <a:solidFill>
                      <a:srgbClr val="F7FAFC">
                        <a:alpha val="100000"/>
                      </a:srgbClr>
                    </a:solidFill>
                  </a:tcPr>
                </a:tc>
                <a:tc>
                  <a:txBody>
                    <a:bodyPr rtlCol="0"/>
                    <a:lstStyle/>
                    <a:p>
                      <a:pPr marL="0" indent="0" algn="l">
                        <a:lnSpc>
                          <a:spcPct val="100000"/>
                        </a:lnSpc>
                        <a:defRPr/>
                      </a:pP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标记样本当前阶段（待核收、检测中、已完成）。</a:t>
                      </a:r>
                      <a:endParaRPr lang="en-US" sz="1100"/>
                    </a:p>
                  </a:txBody>
                  <a:tcPr marL="101600" marR="101600" marT="101600" marB="101600" anchor="t" anchorCtr="0">
                    <a:lnL>
                      <a:noFill/>
                    </a:lnL>
                    <a:lnR>
                      <a:noFill/>
                    </a:lnR>
                    <a:lnT>
                      <a:noFill/>
                    </a:lnT>
                    <a:lnB>
                      <a:noFill/>
                    </a:lnB>
                    <a:solidFill>
                      <a:srgbClr val="F7FAFC">
                        <a:alpha val="100000"/>
                      </a:srgbClr>
                    </a:solidFill>
                  </a:tcPr>
                </a:tc>
              </a:tr>
            </a:tbl>
          </a:graphicData>
        </a:graphic>
      </p:graphicFrame>
      <p:sp>
        <p:nvSpPr>
          <p:cNvPr id="9" name="AutoShape 9"/>
          <p:cNvSpPr/>
          <p:nvPr/>
        </p:nvSpPr>
        <p:spPr>
          <a:xfrm>
            <a:off x="952500" y="4889500"/>
            <a:ext cx="4889500" cy="1460500"/>
          </a:xfrm>
          <a:prstGeom prst="roundRect">
            <a:avLst>
              <a:gd name="adj" fmla="val 0"/>
            </a:avLst>
          </a:prstGeom>
          <a:solidFill>
            <a:srgbClr val="4FD1C5">
              <a:alpha val="12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79500" y="4978400"/>
            <a:ext cx="4635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2D3748">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样本信息表是连接临床科室与检验科的“桥梁”。通过SampleID建立的唯一索引，系统能够精准定位每一份送检标本，结合OrderID_HIS确保医嘱来源可追溯，而状态字段则是实验室工作流引擎调度任务的重要依据。</a:t>
            </a:r>
            <a:endParaRPr lang="en-US" sz="1100"/>
          </a:p>
        </p:txBody>
      </p:sp>
      <p:cxnSp>
        <p:nvCxnSpPr>
          <p:cNvPr id="11" name="Connector 11"/>
          <p:cNvCxnSpPr/>
          <p:nvPr/>
        </p:nvCxnSpPr>
        <p:spPr>
          <a:xfrm rot="5390832">
            <a:off x="3740150" y="3898908"/>
            <a:ext cx="4762500" cy="12700"/>
          </a:xfrm>
          <a:prstGeom prst="straightConnector1">
            <a:avLst/>
          </a:prstGeom>
          <a:solidFill>
            <a:srgbClr val="DEE0E3">
              <a:alpha val="100000"/>
            </a:srgbClr>
          </a:solidFill>
          <a:ln w="12700" cap="flat" cmpd="sng">
            <a:solidFill>
              <a:srgbClr val="4FD1C5">
                <a:alpha val="30000"/>
              </a:srgbClr>
            </a:solidFill>
            <a:prstDash val="dash"/>
            <a:round/>
            <a:headEnd type="none" w="med" len="med"/>
            <a:tailEnd type="none" w="med" len="med"/>
          </a:ln>
        </p:spPr>
      </p:cxnSp>
      <p:sp>
        <p:nvSpPr>
          <p:cNvPr id="12" name="AutoShape 12"/>
          <p:cNvSpPr/>
          <p:nvPr/>
        </p:nvSpPr>
        <p:spPr>
          <a:xfrm>
            <a:off x="6223000" y="1397000"/>
            <a:ext cx="5270500" cy="5080000"/>
          </a:xfrm>
          <a:prstGeom prst="roundRect">
            <a:avLst>
              <a:gd name="adj" fmla="val 0"/>
            </a:avLst>
          </a:prstGeom>
          <a:solidFill>
            <a:srgbClr val="FFFFFF">
              <a:alpha val="92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223000" y="1397000"/>
            <a:ext cx="52705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413500" y="1587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检验项目字典表 (TestItem)</a:t>
            </a:r>
            <a:endParaRPr lang="en-US" sz="1100"/>
          </a:p>
        </p:txBody>
      </p:sp>
      <p:sp>
        <p:nvSpPr>
          <p:cNvPr id="15" name="AutoShape 15"/>
          <p:cNvSpPr/>
          <p:nvPr/>
        </p:nvSpPr>
        <p:spPr>
          <a:xfrm>
            <a:off x="6413500" y="21590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检验科的标准化业务知识库，预定义了所有开展的检测项目、技术指标与成本参数。它不仅是仪器自动识别项目的依据，也是计算费用和辅助医生诊断的核心数据支撑。</a:t>
            </a:r>
            <a:endParaRPr lang="en-US" sz="1100"/>
          </a:p>
        </p:txBody>
      </p:sp>
      <p:graphicFrame>
        <p:nvGraphicFramePr>
          <p:cNvPr id="16" name="Table 16"/>
          <p:cNvGraphicFramePr>
            <a:graphicFrameLocks noGrp="1"/>
          </p:cNvGraphicFramePr>
          <p:nvPr/>
        </p:nvGraphicFramePr>
        <p:xfrm>
          <a:off x="6413500" y="3048000"/>
          <a:ext cx="4889500" cy="1549400"/>
        </p:xfrm>
        <a:graphic>
          <a:graphicData uri="http://schemas.openxmlformats.org/drawingml/2006/table">
            <a:tbl>
              <a:tblPr>
                <a:effectLst/>
              </a:tblPr>
              <a:tblGrid>
                <a:gridCol w="1460500"/>
                <a:gridCol w="1333500"/>
                <a:gridCol w="2095500"/>
              </a:tblGrid>
              <a:tr h="406400">
                <a:tc>
                  <a:txBody>
                    <a:bodyPr rtlCol="0"/>
                    <a:lstStyle/>
                    <a:p>
                      <a:pPr marL="0" indent="0" algn="ctr">
                        <a:lnSpc>
                          <a:spcPct val="100000"/>
                        </a:lnSpc>
                        <a:defRPr/>
                      </a:pPr>
                      <a:r>
                        <a:rPr lang="en-US" sz="1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关键字段</a:t>
                      </a:r>
                      <a:endParaRPr lang="en-US" sz="1100"/>
                    </a:p>
                  </a:txBody>
                  <a:tcPr marL="101600" marR="101600" marT="101600" marB="101600" anchor="t" anchorCtr="0">
                    <a:lnL>
                      <a:noFill/>
                    </a:lnL>
                    <a:lnR>
                      <a:noFill/>
                    </a:lnR>
                    <a:lnT>
                      <a:noFill/>
                    </a:lnT>
                    <a:lnB>
                      <a:noFill/>
                    </a:lnB>
                    <a:solidFill>
                      <a:srgbClr val="4FD1C5">
                        <a:alpha val="18000"/>
                      </a:srgbClr>
                    </a:solidFill>
                  </a:tcPr>
                </a:tc>
                <a:tc>
                  <a:txBody>
                    <a:bodyPr rtlCol="0"/>
                    <a:lstStyle/>
                    <a:p>
                      <a:pPr marL="0" indent="0" algn="ctr">
                        <a:lnSpc>
                          <a:spcPct val="100000"/>
                        </a:lnSpc>
                        <a:defRPr/>
                      </a:pPr>
                      <a:r>
                        <a:rPr lang="en-US" sz="1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数据类型</a:t>
                      </a:r>
                      <a:endParaRPr lang="en-US" sz="1100"/>
                    </a:p>
                  </a:txBody>
                  <a:tcPr marL="101600" marR="101600" marT="101600" marB="101600" anchor="t" anchorCtr="0">
                    <a:lnL>
                      <a:noFill/>
                    </a:lnL>
                    <a:lnR>
                      <a:noFill/>
                    </a:lnR>
                    <a:lnT>
                      <a:noFill/>
                    </a:lnT>
                    <a:lnB>
                      <a:noFill/>
                    </a:lnB>
                    <a:solidFill>
                      <a:srgbClr val="4FD1C5">
                        <a:alpha val="18000"/>
                      </a:srgbClr>
                    </a:solidFill>
                  </a:tcPr>
                </a:tc>
                <a:tc>
                  <a:txBody>
                    <a:bodyPr rtlCol="0"/>
                    <a:lstStyle/>
                    <a:p>
                      <a:pPr marL="0" indent="0" algn="ctr">
                        <a:lnSpc>
                          <a:spcPct val="100000"/>
                        </a:lnSpc>
                        <a:defRPr/>
                      </a:pPr>
                      <a:r>
                        <a:rPr lang="en-US" sz="1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核心含义</a:t>
                      </a:r>
                      <a:endParaRPr lang="en-US" sz="1100"/>
                    </a:p>
                  </a:txBody>
                  <a:tcPr marL="101600" marR="101600" marT="101600" marB="101600" anchor="t" anchorCtr="0">
                    <a:lnL>
                      <a:noFill/>
                    </a:lnL>
                    <a:lnR>
                      <a:noFill/>
                    </a:lnR>
                    <a:lnT>
                      <a:noFill/>
                    </a:lnT>
                    <a:lnB>
                      <a:noFill/>
                    </a:lnB>
                    <a:solidFill>
                      <a:srgbClr val="4FD1C5">
                        <a:alpha val="18000"/>
                      </a:srgbClr>
                    </a:solidFill>
                  </a:tcPr>
                </a:tc>
              </a:tr>
              <a:tr h="381000">
                <a:tc>
                  <a:txBody>
                    <a:bodyPr rtlCol="0"/>
                    <a:lstStyle/>
                    <a:p>
                      <a:pPr marL="0" indent="0" algn="ctr">
                        <a:lnSpc>
                          <a:spcPct val="100000"/>
                        </a:lnSpc>
                        <a:defRPr/>
                      </a:pPr>
                      <a:r>
                        <a:rPr lang="en-US" sz="1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TestCode</a:t>
                      </a:r>
                      <a:endParaRPr lang="en-US" sz="1100"/>
                    </a:p>
                  </a:txBody>
                  <a:tcPr marL="101600" marR="101600" marT="101600" marB="101600" anchor="t" anchorCtr="0">
                    <a:lnL>
                      <a:noFill/>
                    </a:lnL>
                    <a:lnR>
                      <a:noFill/>
                    </a:lnR>
                    <a:lnT>
                      <a:noFill/>
                    </a:lnT>
                    <a:lnB>
                      <a:noFill/>
                    </a:lnB>
                    <a:solidFill>
                      <a:srgbClr val="F7FAFC">
                        <a:alpha val="100000"/>
                      </a:srgbClr>
                    </a:solidFill>
                  </a:tcPr>
                </a:tc>
                <a:tc>
                  <a:txBody>
                    <a:bodyPr rtlCol="0"/>
                    <a:lstStyle/>
                    <a:p>
                      <a:pPr marL="0" indent="0" algn="ctr">
                        <a:lnSpc>
                          <a:spcPct val="100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VARCHAR(50)</a:t>
                      </a:r>
                      <a:endParaRPr lang="en-US" sz="1100"/>
                    </a:p>
                  </a:txBody>
                  <a:tcPr marL="101600" marR="101600" marT="101600" marB="101600" anchor="t" anchorCtr="0">
                    <a:lnL>
                      <a:noFill/>
                    </a:lnL>
                    <a:lnR>
                      <a:noFill/>
                    </a:lnR>
                    <a:lnT>
                      <a:noFill/>
                    </a:lnT>
                    <a:lnB>
                      <a:noFill/>
                    </a:lnB>
                    <a:solidFill>
                      <a:srgbClr val="F7FAFC">
                        <a:alpha val="100000"/>
                      </a:srgbClr>
                    </a:solidFill>
                  </a:tcPr>
                </a:tc>
                <a:tc>
                  <a:txBody>
                    <a:bodyPr rtlCol="0"/>
                    <a:lstStyle/>
                    <a:p>
                      <a:pPr marL="0" indent="0" algn="l">
                        <a:lnSpc>
                          <a:spcPct val="100000"/>
                        </a:lnSpc>
                        <a:defRPr/>
                      </a:pP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项目唯一编码，实验室内部互认的“通用语言”。</a:t>
                      </a:r>
                      <a:endParaRPr lang="en-US" sz="1100"/>
                    </a:p>
                  </a:txBody>
                  <a:tcPr marL="101600" marR="101600" marT="101600" marB="101600" anchor="t" anchorCtr="0">
                    <a:lnL>
                      <a:noFill/>
                    </a:lnL>
                    <a:lnR>
                      <a:noFill/>
                    </a:lnR>
                    <a:lnT>
                      <a:noFill/>
                    </a:lnT>
                    <a:lnB>
                      <a:noFill/>
                    </a:lnB>
                    <a:solidFill>
                      <a:srgbClr val="F7FAFC">
                        <a:alpha val="100000"/>
                      </a:srgbClr>
                    </a:solidFill>
                  </a:tcPr>
                </a:tc>
              </a:tr>
              <a:tr h="381000">
                <a:tc>
                  <a:txBody>
                    <a:bodyPr rtlCol="0"/>
                    <a:lstStyle/>
                    <a:p>
                      <a:pPr marL="0" indent="0" algn="ctr">
                        <a:lnSpc>
                          <a:spcPct val="100000"/>
                        </a:lnSpc>
                        <a:defRPr/>
                      </a:pPr>
                      <a:r>
                        <a:rPr lang="en-US" sz="1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ReferenceRange</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ctr">
                        <a:lnSpc>
                          <a:spcPct val="100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VARCHAR(100)</a:t>
                      </a:r>
                      <a:endParaRPr lang="en-US" sz="1100"/>
                    </a:p>
                  </a:txBody>
                  <a:tcPr marL="101600" marR="101600" marT="101600" marB="101600" anchor="t" anchorCtr="0">
                    <a:lnL>
                      <a:noFill/>
                    </a:lnL>
                    <a:lnR>
                      <a:noFill/>
                    </a:lnR>
                    <a:lnT>
                      <a:noFill/>
                    </a:lnT>
                    <a:lnB>
                      <a:noFill/>
                    </a:lnB>
                    <a:solidFill>
                      <a:srgbClr val="FFFFFF">
                        <a:alpha val="100000"/>
                      </a:srgbClr>
                    </a:solidFill>
                  </a:tcPr>
                </a:tc>
                <a:tc>
                  <a:txBody>
                    <a:bodyPr rtlCol="0"/>
                    <a:lstStyle/>
                    <a:p>
                      <a:pPr marL="0" indent="0" algn="l">
                        <a:lnSpc>
                          <a:spcPct val="100000"/>
                        </a:lnSpc>
                        <a:defRPr/>
                      </a:pP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正常参考区间，辅助临床判断结果是否异常。</a:t>
                      </a:r>
                      <a:endParaRPr lang="en-US" sz="1100"/>
                    </a:p>
                  </a:txBody>
                  <a:tcPr marL="101600" marR="101600" marT="101600" marB="101600" anchor="t" anchorCtr="0">
                    <a:lnL>
                      <a:noFill/>
                    </a:lnL>
                    <a:lnR>
                      <a:noFill/>
                    </a:lnR>
                    <a:lnT>
                      <a:noFill/>
                    </a:lnT>
                    <a:lnB>
                      <a:noFill/>
                    </a:lnB>
                    <a:solidFill>
                      <a:srgbClr val="FFFFFF">
                        <a:alpha val="100000"/>
                      </a:srgbClr>
                    </a:solidFill>
                  </a:tcPr>
                </a:tc>
              </a:tr>
              <a:tr h="381000">
                <a:tc>
                  <a:txBody>
                    <a:bodyPr rtlCol="0"/>
                    <a:lstStyle/>
                    <a:p>
                      <a:pPr marL="0" indent="0" algn="ctr">
                        <a:lnSpc>
                          <a:spcPct val="100000"/>
                        </a:lnSpc>
                        <a:defRPr/>
                      </a:pPr>
                      <a:r>
                        <a:rPr lang="en-US" sz="1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Price</a:t>
                      </a:r>
                      <a:endParaRPr lang="en-US" sz="1100"/>
                    </a:p>
                  </a:txBody>
                  <a:tcPr marL="101600" marR="101600" marT="101600" marB="101600" anchor="t" anchorCtr="0">
                    <a:lnL>
                      <a:noFill/>
                    </a:lnL>
                    <a:lnR>
                      <a:noFill/>
                    </a:lnR>
                    <a:lnT>
                      <a:noFill/>
                    </a:lnT>
                    <a:lnB>
                      <a:noFill/>
                    </a:lnB>
                    <a:solidFill>
                      <a:srgbClr val="F7FAFC">
                        <a:alpha val="100000"/>
                      </a:srgbClr>
                    </a:solidFill>
                  </a:tcPr>
                </a:tc>
                <a:tc>
                  <a:txBody>
                    <a:bodyPr rtlCol="0"/>
                    <a:lstStyle/>
                    <a:p>
                      <a:pPr marL="0" indent="0" algn="ctr">
                        <a:lnSpc>
                          <a:spcPct val="100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DECIMAL(10,2)</a:t>
                      </a:r>
                      <a:endParaRPr lang="en-US" sz="1100"/>
                    </a:p>
                  </a:txBody>
                  <a:tcPr marL="101600" marR="101600" marT="101600" marB="101600" anchor="t" anchorCtr="0">
                    <a:lnL>
                      <a:noFill/>
                    </a:lnL>
                    <a:lnR>
                      <a:noFill/>
                    </a:lnR>
                    <a:lnT>
                      <a:noFill/>
                    </a:lnT>
                    <a:lnB>
                      <a:noFill/>
                    </a:lnB>
                    <a:solidFill>
                      <a:srgbClr val="F7FAFC">
                        <a:alpha val="100000"/>
                      </a:srgbClr>
                    </a:solidFill>
                  </a:tcPr>
                </a:tc>
                <a:tc>
                  <a:txBody>
                    <a:bodyPr rtlCol="0"/>
                    <a:lstStyle/>
                    <a:p>
                      <a:pPr marL="0" indent="0" algn="l">
                        <a:lnSpc>
                          <a:spcPct val="100000"/>
                        </a:lnSpc>
                        <a:defRPr/>
                      </a:pP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项目收费标准，用于计费系统的自动划价结算。</a:t>
                      </a:r>
                      <a:endParaRPr lang="en-US" sz="1100"/>
                    </a:p>
                  </a:txBody>
                  <a:tcPr marL="101600" marR="101600" marT="101600" marB="101600" anchor="t" anchorCtr="0">
                    <a:lnL>
                      <a:noFill/>
                    </a:lnL>
                    <a:lnR>
                      <a:noFill/>
                    </a:lnR>
                    <a:lnT>
                      <a:noFill/>
                    </a:lnT>
                    <a:lnB>
                      <a:noFill/>
                    </a:lnB>
                    <a:solidFill>
                      <a:srgbClr val="F7FAFC">
                        <a:alpha val="100000"/>
                      </a:srgbClr>
                    </a:solidFill>
                  </a:tcPr>
                </a:tc>
              </a:tr>
            </a:tbl>
          </a:graphicData>
        </a:graphic>
      </p:graphicFrame>
      <p:sp>
        <p:nvSpPr>
          <p:cNvPr id="17" name="AutoShape 17"/>
          <p:cNvSpPr/>
          <p:nvPr/>
        </p:nvSpPr>
        <p:spPr>
          <a:xfrm>
            <a:off x="6413500" y="4889500"/>
            <a:ext cx="4889500" cy="1460500"/>
          </a:xfrm>
          <a:prstGeom prst="roundRect">
            <a:avLst>
              <a:gd name="adj" fmla="val 0"/>
            </a:avLst>
          </a:prstGeom>
          <a:solidFill>
            <a:srgbClr val="4FD1C5">
              <a:alpha val="12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6540500" y="4978400"/>
            <a:ext cx="4635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2D3748">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字典表是检验业务的“标准规范”。它的标准化程度直接决定了LIS系统的灵活性与互通性——统一的TestCode消除了仪器间的识别障碍，而标准化的参考范围则为后续的危急值自动预警和智能辅助诊断提供了不可或缺的基准数据。</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LIS核心数据结构：检验结果表</a:t>
            </a:r>
            <a:endParaRPr lang="en-US" sz="1100"/>
          </a:p>
        </p:txBody>
      </p:sp>
      <p:sp>
        <p:nvSpPr>
          <p:cNvPr id="4" name="AutoShape 4"/>
          <p:cNvSpPr/>
          <p:nvPr/>
        </p:nvSpPr>
        <p:spPr>
          <a:xfrm>
            <a:off x="762000" y="1397000"/>
            <a:ext cx="10668000" cy="889000"/>
          </a:xfrm>
          <a:prstGeom prst="roundRect">
            <a:avLst>
              <a:gd name="adj" fmla="val 0"/>
            </a:avLst>
          </a:prstGeom>
          <a:solidFill>
            <a:srgbClr val="FFFFFF">
              <a:alpha val="92000"/>
            </a:srgbClr>
          </a:solidFill>
          <a:ln w="12700" cap="flat" cmpd="sng">
            <a:solidFill>
              <a:srgbClr val="4FD1C5">
                <a:alpha val="6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498600"/>
            <a:ext cx="10160000" cy="6858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2D3748">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存储每个样本对应每个检验项目的最终结果，是检验报告的核心数据来源。它承载了从仪器原始数据采集、结果计算到人工审核的全流程关键信息，是生成患者临床检验报告单的底层数据基石。</a:t>
            </a:r>
            <a:endParaRPr lang="en-US" sz="1100"/>
          </a:p>
        </p:txBody>
      </p:sp>
      <p:sp>
        <p:nvSpPr>
          <p:cNvPr id="6" name="AutoShape 6"/>
          <p:cNvSpPr/>
          <p:nvPr/>
        </p:nvSpPr>
        <p:spPr>
          <a:xfrm>
            <a:off x="762000" y="2476500"/>
            <a:ext cx="10668000" cy="2921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762000" y="2476500"/>
            <a:ext cx="10668000" cy="533400"/>
          </a:xfrm>
          <a:prstGeom prst="roundRect">
            <a:avLst>
              <a:gd name="adj" fmla="val 0"/>
            </a:avLst>
          </a:prstGeom>
          <a:solidFill>
            <a:srgbClr val="4FD1C5">
              <a:alpha val="95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2514600"/>
            <a:ext cx="30480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核心字段 (Field Name)</a:t>
            </a:r>
            <a:endParaRPr lang="en-US" sz="1100"/>
          </a:p>
        </p:txBody>
      </p:sp>
      <p:sp>
        <p:nvSpPr>
          <p:cNvPr id="9" name="AutoShape 9"/>
          <p:cNvSpPr/>
          <p:nvPr/>
        </p:nvSpPr>
        <p:spPr>
          <a:xfrm>
            <a:off x="3937000" y="2514600"/>
            <a:ext cx="22860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数据类型 (Data Type)</a:t>
            </a:r>
            <a:endParaRPr lang="en-US" sz="1100"/>
          </a:p>
        </p:txBody>
      </p:sp>
      <p:sp>
        <p:nvSpPr>
          <p:cNvPr id="10" name="AutoShape 10"/>
          <p:cNvSpPr/>
          <p:nvPr/>
        </p:nvSpPr>
        <p:spPr>
          <a:xfrm>
            <a:off x="6350000" y="2514600"/>
            <a:ext cx="5080000" cy="4572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业务含义与约束 (Description)</a:t>
            </a:r>
            <a:endParaRPr lang="en-US" sz="1100"/>
          </a:p>
        </p:txBody>
      </p:sp>
      <p:sp>
        <p:nvSpPr>
          <p:cNvPr id="11" name="AutoShape 11"/>
          <p:cNvSpPr/>
          <p:nvPr/>
        </p:nvSpPr>
        <p:spPr>
          <a:xfrm>
            <a:off x="762000" y="3048000"/>
            <a:ext cx="10668000" cy="482600"/>
          </a:xfrm>
          <a:prstGeom prst="roundRect">
            <a:avLst>
              <a:gd name="adj" fmla="val 0"/>
            </a:avLst>
          </a:prstGeom>
          <a:solidFill>
            <a:srgbClr val="4FD1C5">
              <a:alpha val="1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825500" y="3086100"/>
            <a:ext cx="292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ResultID / SampleID</a:t>
            </a:r>
            <a:endParaRPr lang="en-US" sz="1100"/>
          </a:p>
        </p:txBody>
      </p:sp>
      <p:sp>
        <p:nvSpPr>
          <p:cNvPr id="13" name="AutoShape 13"/>
          <p:cNvSpPr/>
          <p:nvPr/>
        </p:nvSpPr>
        <p:spPr>
          <a:xfrm>
            <a:off x="3937000" y="3086100"/>
            <a:ext cx="22860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3C4655"/>
                </a:solidFill>
                <a:latin typeface="Noto Sans SC" panose="020B0200000000000000" charset="-122"/>
                <a:ea typeface="Noto Sans SC" panose="020B0200000000000000" charset="-122"/>
                <a:cs typeface="Noto Sans SC" panose="020B0200000000000000" charset="-122"/>
                <a:sym typeface="Noto Sans SC" panose="020B0200000000000000" charset="-122"/>
              </a:rPr>
              <a:t>INT / VARCHAR(50)</a:t>
            </a:r>
            <a:endParaRPr lang="en-US" sz="1100"/>
          </a:p>
        </p:txBody>
      </p:sp>
      <p:sp>
        <p:nvSpPr>
          <p:cNvPr id="14" name="AutoShape 14"/>
          <p:cNvSpPr/>
          <p:nvPr/>
        </p:nvSpPr>
        <p:spPr>
          <a:xfrm>
            <a:off x="6350000" y="3086100"/>
            <a:ext cx="495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2D3748">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结果唯一主键，关联样本主表；确立“样本-结果”的归属关系。</a:t>
            </a:r>
            <a:endParaRPr lang="en-US" sz="1100"/>
          </a:p>
        </p:txBody>
      </p:sp>
      <p:sp>
        <p:nvSpPr>
          <p:cNvPr id="15" name="AutoShape 15"/>
          <p:cNvSpPr/>
          <p:nvPr/>
        </p:nvSpPr>
        <p:spPr>
          <a:xfrm>
            <a:off x="762000" y="3556000"/>
            <a:ext cx="10668000" cy="4826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25500" y="3594100"/>
            <a:ext cx="292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TestCode / TestValue</a:t>
            </a:r>
            <a:endParaRPr lang="en-US" sz="1100"/>
          </a:p>
        </p:txBody>
      </p:sp>
      <p:sp>
        <p:nvSpPr>
          <p:cNvPr id="17" name="AutoShape 17"/>
          <p:cNvSpPr/>
          <p:nvPr/>
        </p:nvSpPr>
        <p:spPr>
          <a:xfrm>
            <a:off x="3937000" y="3594100"/>
            <a:ext cx="22860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3C4655"/>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VARCHAR(50)</a:t>
            </a:r>
            <a:endParaRPr lang="en-US" sz="1100"/>
          </a:p>
        </p:txBody>
      </p:sp>
      <p:sp>
        <p:nvSpPr>
          <p:cNvPr id="18" name="AutoShape 18"/>
          <p:cNvSpPr/>
          <p:nvPr/>
        </p:nvSpPr>
        <p:spPr>
          <a:xfrm>
            <a:off x="6350000" y="3594100"/>
            <a:ext cx="495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2D3748">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关联项目字典表；存储仪器输出的原始测定数值，支持数值与字符串。</a:t>
            </a:r>
            <a:endParaRPr lang="en-US" sz="1100"/>
          </a:p>
        </p:txBody>
      </p:sp>
      <p:sp>
        <p:nvSpPr>
          <p:cNvPr id="19" name="AutoShape 19"/>
          <p:cNvSpPr/>
          <p:nvPr/>
        </p:nvSpPr>
        <p:spPr>
          <a:xfrm>
            <a:off x="762000" y="4064000"/>
            <a:ext cx="10668000" cy="482600"/>
          </a:xfrm>
          <a:prstGeom prst="roundRect">
            <a:avLst>
              <a:gd name="adj" fmla="val 0"/>
            </a:avLst>
          </a:prstGeom>
          <a:solidFill>
            <a:srgbClr val="4FD1C5">
              <a:alpha val="12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825500" y="4102100"/>
            <a:ext cx="292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ValueType / AbnormalFlag</a:t>
            </a:r>
            <a:endParaRPr lang="en-US" sz="1100"/>
          </a:p>
        </p:txBody>
      </p:sp>
      <p:sp>
        <p:nvSpPr>
          <p:cNvPr id="21" name="AutoShape 21"/>
          <p:cNvSpPr/>
          <p:nvPr/>
        </p:nvSpPr>
        <p:spPr>
          <a:xfrm>
            <a:off x="3937000" y="4102100"/>
            <a:ext cx="22860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3C4655"/>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VARCHAR(10) / CHAR(1)</a:t>
            </a:r>
            <a:endParaRPr lang="en-US" sz="1100"/>
          </a:p>
        </p:txBody>
      </p:sp>
      <p:sp>
        <p:nvSpPr>
          <p:cNvPr id="22" name="AutoShape 22"/>
          <p:cNvSpPr/>
          <p:nvPr/>
        </p:nvSpPr>
        <p:spPr>
          <a:xfrm>
            <a:off x="6350000" y="4102100"/>
            <a:ext cx="495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2D3748">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区分数值型与文本型；标志结果状态（H偏高/L偏低/N正常）辅助判读。</a:t>
            </a:r>
            <a:endParaRPr lang="en-US" sz="1100"/>
          </a:p>
        </p:txBody>
      </p:sp>
      <p:sp>
        <p:nvSpPr>
          <p:cNvPr id="23" name="AutoShape 23"/>
          <p:cNvSpPr/>
          <p:nvPr/>
        </p:nvSpPr>
        <p:spPr>
          <a:xfrm>
            <a:off x="762000" y="4572000"/>
            <a:ext cx="10668000" cy="482600"/>
          </a:xfrm>
          <a:prstGeom prst="roundRect">
            <a:avLst>
              <a:gd name="adj" fmla="val 0"/>
            </a:avLst>
          </a:prstGeom>
          <a:solidFill>
            <a:srgbClr val="FFFFFF">
              <a:alpha val="95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825500" y="4610100"/>
            <a:ext cx="292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VerifyStatus / VerifyTime</a:t>
            </a:r>
            <a:endParaRPr lang="en-US" sz="1100"/>
          </a:p>
        </p:txBody>
      </p:sp>
      <p:sp>
        <p:nvSpPr>
          <p:cNvPr id="25" name="AutoShape 25"/>
          <p:cNvSpPr/>
          <p:nvPr/>
        </p:nvSpPr>
        <p:spPr>
          <a:xfrm>
            <a:off x="3937000" y="4610100"/>
            <a:ext cx="2286000" cy="406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3C4655"/>
                </a:solidFill>
                <a:latin typeface="Noto Sans SC" panose="020B0200000000000000" charset="-122"/>
                <a:ea typeface="Noto Sans SC" panose="020B0200000000000000" charset="-122"/>
                <a:cs typeface="Noto Sans SC" panose="020B0200000000000000" charset="-122"/>
                <a:sym typeface="Noto Sans SC" panose="020B0200000000000000" charset="-122"/>
              </a:rPr>
              <a:t>VARCHAR(20) / DATETIME</a:t>
            </a:r>
            <a:endParaRPr lang="en-US" sz="1100"/>
          </a:p>
        </p:txBody>
      </p:sp>
      <p:sp>
        <p:nvSpPr>
          <p:cNvPr id="26" name="AutoShape 26"/>
          <p:cNvSpPr/>
          <p:nvPr/>
        </p:nvSpPr>
        <p:spPr>
          <a:xfrm>
            <a:off x="6350000" y="4610100"/>
            <a:ext cx="495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2D3748">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记录审核流转状态；锁定最终报告时间，确保医疗数据的可追溯性。</a:t>
            </a:r>
            <a:endParaRPr lang="en-US" sz="1100"/>
          </a:p>
        </p:txBody>
      </p:sp>
      <p:sp>
        <p:nvSpPr>
          <p:cNvPr id="27" name="AutoShape 27"/>
          <p:cNvSpPr/>
          <p:nvPr/>
        </p:nvSpPr>
        <p:spPr>
          <a:xfrm>
            <a:off x="762000" y="5397500"/>
            <a:ext cx="10668000" cy="1143000"/>
          </a:xfrm>
          <a:prstGeom prst="roundRect">
            <a:avLst>
              <a:gd name="adj" fmla="val 0"/>
            </a:avLst>
          </a:prstGeom>
          <a:solidFill>
            <a:srgbClr val="F0F9F8">
              <a:alpha val="95000"/>
            </a:srgbClr>
          </a:solidFill>
          <a:ln w="12700" cap="flat" cmpd="sng">
            <a:solidFill>
              <a:srgbClr val="4FD1C5">
                <a:alpha val="50000"/>
              </a:srgbClr>
            </a:solidFill>
            <a:prstDash val="dash"/>
            <a:round/>
          </a:ln>
        </p:spPr>
        <p:txBody>
          <a:bodyPr vert="horz" wrap="square" lIns="63500" tIns="63500" rIns="63500" bIns="63500" rtlCol="0" anchor="ctr"/>
          <a:lstStyle/>
          <a:p>
            <a:pPr algn="ctr">
              <a:defRPr/>
            </a:pPr>
          </a:p>
        </p:txBody>
      </p:sp>
      <p:sp>
        <p:nvSpPr>
          <p:cNvPr id="28" name="AutoShape 28"/>
          <p:cNvSpPr/>
          <p:nvPr/>
        </p:nvSpPr>
        <p:spPr>
          <a:xfrm>
            <a:off x="1016000" y="5486400"/>
            <a:ext cx="10160000" cy="9652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关键价值：</a:t>
            </a: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检验结果表是LIS系统的数据核心。它不仅是原始数据的“沉淀池”，更通过严格的字段约束（如异常标志、审核状态）实现了对检验质量的过程控制。从样本上机到最终报告发出，每一个关键动作都在此表中留下了不可篡改的数字足迹，是临床诊断的重要客观依据。</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2286000"/>
            <a:ext cx="1016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04. </a:t>
            </a:r>
            <a:r>
              <a:rPr lang="en-US" sz="2800" b="1">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三大系统的数据交互与集成</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160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三大系统集成流程</a:t>
            </a:r>
            <a:endParaRPr lang="en-US" sz="1100"/>
          </a:p>
        </p:txBody>
      </p:sp>
      <p:sp>
        <p:nvSpPr>
          <p:cNvPr id="4" name="AutoShape 4"/>
          <p:cNvSpPr/>
          <p:nvPr/>
        </p:nvSpPr>
        <p:spPr>
          <a:xfrm>
            <a:off x="762000" y="1651000"/>
            <a:ext cx="10668000" cy="1270000"/>
          </a:xfrm>
          <a:prstGeom prst="roundRect">
            <a:avLst>
              <a:gd name="adj" fmla="val 0"/>
            </a:avLst>
          </a:prstGeom>
          <a:solidFill>
            <a:srgbClr val="FFFFFF">
              <a:alpha val="85000"/>
            </a:srgbClr>
          </a:solidFill>
          <a:ln w="25400" cap="flat" cmpd="sng">
            <a:noFill/>
            <a:prstDash val="solid"/>
            <a:round/>
          </a:ln>
        </p:spPr>
        <p:txBody>
          <a:bodyPr vert="horz" wrap="square" lIns="0" tIns="0" rIns="0" bIns="0" rtlCol="0" anchor="ctr" anchorCtr="0"/>
          <a:lstStyle/>
          <a:p>
            <a:pPr algn="ctr">
              <a:defRPr/>
            </a:pPr>
          </a:p>
        </p:txBody>
      </p:sp>
      <p:sp>
        <p:nvSpPr>
          <p:cNvPr id="5" name="AutoShape 5"/>
          <p:cNvSpPr/>
          <p:nvPr/>
        </p:nvSpPr>
        <p:spPr>
          <a:xfrm>
            <a:off x="952500" y="1778000"/>
            <a:ext cx="10287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HIS、LIS、PACS 三大系统通过标准化接口无缝协作，实现患者信息、医嘱、影像、检验结果的互联互通，构建完整的数字化诊疗闭环。</a:t>
            </a:r>
            <a:endParaRPr lang="en-US" sz="1100"/>
          </a:p>
        </p:txBody>
      </p:sp>
      <p:sp>
        <p:nvSpPr>
          <p:cNvPr id="6" name="AutoShape 6"/>
          <p:cNvSpPr/>
          <p:nvPr/>
        </p:nvSpPr>
        <p:spPr>
          <a:xfrm>
            <a:off x="635000" y="3302000"/>
            <a:ext cx="2032000" cy="304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635000" y="3302000"/>
            <a:ext cx="20320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762000" y="3556000"/>
            <a:ext cx="177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9" name="AutoShape 9"/>
          <p:cNvSpPr/>
          <p:nvPr/>
        </p:nvSpPr>
        <p:spPr>
          <a:xfrm>
            <a:off x="762000" y="4191000"/>
            <a:ext cx="177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HIS 发起诊疗指令</a:t>
            </a:r>
            <a:endParaRPr lang="en-US" sz="1100"/>
          </a:p>
        </p:txBody>
      </p:sp>
      <p:sp>
        <p:nvSpPr>
          <p:cNvPr id="10" name="AutoShape 10"/>
          <p:cNvSpPr/>
          <p:nvPr/>
        </p:nvSpPr>
        <p:spPr>
          <a:xfrm>
            <a:off x="762000" y="4826000"/>
            <a:ext cx="1778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1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医生在HIS中为患者开立门诊或住院，并下达检验(LIS)和影像(PACS)检查医嘱。</a:t>
            </a:r>
            <a:endParaRPr lang="en-US" sz="1100"/>
          </a:p>
        </p:txBody>
      </p:sp>
      <p:sp>
        <p:nvSpPr>
          <p:cNvPr id="11" name="AutoShape 11"/>
          <p:cNvSpPr/>
          <p:nvPr/>
        </p:nvSpPr>
        <p:spPr>
          <a:xfrm>
            <a:off x="2921000" y="3302000"/>
            <a:ext cx="2032000" cy="304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2921000" y="3302000"/>
            <a:ext cx="20320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3048000" y="3556000"/>
            <a:ext cx="177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4" name="AutoShape 14"/>
          <p:cNvSpPr/>
          <p:nvPr/>
        </p:nvSpPr>
        <p:spPr>
          <a:xfrm>
            <a:off x="3048000" y="4191000"/>
            <a:ext cx="177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指令分发至LIS/PACS</a:t>
            </a:r>
            <a:endParaRPr lang="en-US" sz="1100"/>
          </a:p>
        </p:txBody>
      </p:sp>
      <p:sp>
        <p:nvSpPr>
          <p:cNvPr id="15" name="AutoShape 15"/>
          <p:cNvSpPr/>
          <p:nvPr/>
        </p:nvSpPr>
        <p:spPr>
          <a:xfrm>
            <a:off x="3048000" y="4826000"/>
            <a:ext cx="1778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1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HIS通过HL7消息，将患者信息和检查指令分别发送到LIS和PACS系统。</a:t>
            </a:r>
            <a:endParaRPr lang="en-US" sz="1100"/>
          </a:p>
        </p:txBody>
      </p:sp>
      <p:sp>
        <p:nvSpPr>
          <p:cNvPr id="16" name="AutoShape 16"/>
          <p:cNvSpPr/>
          <p:nvPr/>
        </p:nvSpPr>
        <p:spPr>
          <a:xfrm>
            <a:off x="5207000" y="3302000"/>
            <a:ext cx="2032000" cy="304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5207000" y="3302000"/>
            <a:ext cx="20320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5334000" y="3556000"/>
            <a:ext cx="177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9" name="AutoShape 19"/>
          <p:cNvSpPr/>
          <p:nvPr/>
        </p:nvSpPr>
        <p:spPr>
          <a:xfrm>
            <a:off x="5334000" y="4191000"/>
            <a:ext cx="177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LIS/PACS 执行检查</a:t>
            </a:r>
            <a:endParaRPr lang="en-US" sz="1100"/>
          </a:p>
        </p:txBody>
      </p:sp>
      <p:sp>
        <p:nvSpPr>
          <p:cNvPr id="20" name="AutoShape 20"/>
          <p:cNvSpPr/>
          <p:nvPr/>
        </p:nvSpPr>
        <p:spPr>
          <a:xfrm>
            <a:off x="5334000" y="4826000"/>
            <a:ext cx="1778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1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检验科和影像科技师分别在LIS和PACS中完成检查，并生成报告。</a:t>
            </a:r>
            <a:endParaRPr lang="en-US" sz="1100"/>
          </a:p>
        </p:txBody>
      </p:sp>
      <p:sp>
        <p:nvSpPr>
          <p:cNvPr id="21" name="AutoShape 21"/>
          <p:cNvSpPr/>
          <p:nvPr/>
        </p:nvSpPr>
        <p:spPr>
          <a:xfrm>
            <a:off x="7493000" y="3302000"/>
            <a:ext cx="2032000" cy="304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7493000" y="3302000"/>
            <a:ext cx="20320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7620000" y="3556000"/>
            <a:ext cx="177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24" name="AutoShape 24"/>
          <p:cNvSpPr/>
          <p:nvPr/>
        </p:nvSpPr>
        <p:spPr>
          <a:xfrm>
            <a:off x="7620000" y="4191000"/>
            <a:ext cx="177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结果回传至HIS</a:t>
            </a:r>
            <a:endParaRPr lang="en-US" sz="1100"/>
          </a:p>
        </p:txBody>
      </p:sp>
      <p:sp>
        <p:nvSpPr>
          <p:cNvPr id="25" name="AutoShape 25"/>
          <p:cNvSpPr/>
          <p:nvPr/>
        </p:nvSpPr>
        <p:spPr>
          <a:xfrm>
            <a:off x="7620000" y="4826000"/>
            <a:ext cx="1778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1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LIS和PACS通过HL7消息，将检验报告和影像诊断报告回传至HIS。</a:t>
            </a:r>
            <a:endParaRPr lang="en-US" sz="1100"/>
          </a:p>
        </p:txBody>
      </p:sp>
      <p:sp>
        <p:nvSpPr>
          <p:cNvPr id="26" name="AutoShape 26"/>
          <p:cNvSpPr/>
          <p:nvPr/>
        </p:nvSpPr>
        <p:spPr>
          <a:xfrm>
            <a:off x="9779000" y="3302000"/>
            <a:ext cx="2032000" cy="3048000"/>
          </a:xfrm>
          <a:prstGeom prst="roundRect">
            <a:avLst>
              <a:gd name="adj" fmla="val 0"/>
            </a:avLst>
          </a:prstGeom>
          <a:solidFill>
            <a:srgbClr val="FFFFFF">
              <a:alpha val="92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9779000" y="3302000"/>
            <a:ext cx="20320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9906000" y="3556000"/>
            <a:ext cx="1778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9" name="AutoShape 29"/>
          <p:cNvSpPr/>
          <p:nvPr/>
        </p:nvSpPr>
        <p:spPr>
          <a:xfrm>
            <a:off x="9906000" y="4191000"/>
            <a:ext cx="177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4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HIS 统一展示与归档</a:t>
            </a:r>
            <a:endParaRPr lang="en-US" sz="1100"/>
          </a:p>
        </p:txBody>
      </p:sp>
      <p:sp>
        <p:nvSpPr>
          <p:cNvPr id="30" name="AutoShape 30"/>
          <p:cNvSpPr/>
          <p:nvPr/>
        </p:nvSpPr>
        <p:spPr>
          <a:xfrm>
            <a:off x="9906000" y="4826000"/>
            <a:ext cx="1778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1100" b="0" i="0" u="none" strike="noStrike">
                <a:solidFill>
                  <a:srgbClr val="475569"/>
                </a:solidFill>
                <a:latin typeface="Noto Sans SC" panose="020B0200000000000000" charset="-122"/>
                <a:ea typeface="Noto Sans SC" panose="020B0200000000000000" charset="-122"/>
                <a:cs typeface="Noto Sans SC" panose="020B0200000000000000" charset="-122"/>
                <a:sym typeface="Noto Sans SC" panose="020B0200000000000000" charset="-122"/>
              </a:rPr>
              <a:t>医生在HIS电子病历中一站式查看诊疗信息，实现“图文一体化”。</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集成核心标准：HL7 与 DICOM</a:t>
            </a:r>
            <a:endParaRPr lang="en-US" sz="1100"/>
          </a:p>
        </p:txBody>
      </p:sp>
      <p:sp>
        <p:nvSpPr>
          <p:cNvPr id="4" name="AutoShape 4"/>
          <p:cNvSpPr/>
          <p:nvPr/>
        </p:nvSpPr>
        <p:spPr>
          <a:xfrm>
            <a:off x="762000" y="1397000"/>
            <a:ext cx="5207000" cy="3302000"/>
          </a:xfrm>
          <a:prstGeom prst="roundRect">
            <a:avLst>
              <a:gd name="adj" fmla="val 0"/>
            </a:avLst>
          </a:prstGeom>
          <a:solidFill>
            <a:srgbClr val="FFFFFF">
              <a:alpha val="92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397000"/>
            <a:ext cx="52070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587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HL7 v2.x (Health Level Seven)</a:t>
            </a:r>
            <a:endParaRPr lang="en-US" sz="1100"/>
          </a:p>
        </p:txBody>
      </p:sp>
      <p:sp>
        <p:nvSpPr>
          <p:cNvPr id="7" name="AutoShape 7"/>
          <p:cNvSpPr/>
          <p:nvPr/>
        </p:nvSpPr>
        <p:spPr>
          <a:xfrm>
            <a:off x="952500" y="2159000"/>
            <a:ext cx="4826000" cy="698500"/>
          </a:xfrm>
          <a:prstGeom prst="roundRect">
            <a:avLst>
              <a:gd name="adj" fmla="val 0"/>
            </a:avLst>
          </a:prstGeom>
          <a:solidFill>
            <a:srgbClr val="4FD1C5">
              <a:alpha val="12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79500" y="2197100"/>
            <a:ext cx="457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业务流转的通用语：</a:t>
            </a: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专注于医疗业务信息的跨系统交换，是连接不同业务环节的“桥梁”，定义了标准化的文本消息格式来传递关键业务指令。</a:t>
            </a:r>
            <a:endParaRPr lang="en-US" sz="1100"/>
          </a:p>
        </p:txBody>
      </p:sp>
      <p:sp>
        <p:nvSpPr>
          <p:cNvPr id="9" name="AutoShape 9"/>
          <p:cNvSpPr/>
          <p:nvPr/>
        </p:nvSpPr>
        <p:spPr>
          <a:xfrm>
            <a:off x="952500" y="2984500"/>
            <a:ext cx="4826000" cy="825500"/>
          </a:xfrm>
          <a:prstGeom prst="roundRect">
            <a:avLst>
              <a:gd name="adj" fmla="val 0"/>
            </a:avLst>
          </a:prstGeom>
          <a:solidFill>
            <a:srgbClr val="F0F9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079500" y="30226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核心承载患者基础档案、电子医嘱、检验结果及诊断报告等非影像类数据。它规定了数据如何被结构化描述，确保HIS、LIS等系统间能准确理解彼此发送的业务请求与响应。</a:t>
            </a:r>
            <a:endParaRPr lang="en-US" sz="1100"/>
          </a:p>
        </p:txBody>
      </p:sp>
      <p:sp>
        <p:nvSpPr>
          <p:cNvPr id="11" name="AutoShape 11"/>
          <p:cNvSpPr/>
          <p:nvPr/>
        </p:nvSpPr>
        <p:spPr>
          <a:xfrm>
            <a:off x="952500" y="3937000"/>
            <a:ext cx="4826000" cy="698500"/>
          </a:xfrm>
          <a:prstGeom prst="roundRect">
            <a:avLst>
              <a:gd name="adj" fmla="val 0"/>
            </a:avLst>
          </a:prstGeom>
          <a:solidFill>
            <a:srgbClr val="4FD1C5">
              <a:alpha val="8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79500" y="3975100"/>
            <a:ext cx="457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2D3748">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典型应用于：HIS系统向LIS下达检验申请、向PACS下达检查单；或医技科室完成检查后，将结果回传给HIS供医生查阅。</a:t>
            </a:r>
            <a:endParaRPr lang="en-US" sz="1100"/>
          </a:p>
        </p:txBody>
      </p:sp>
      <p:sp>
        <p:nvSpPr>
          <p:cNvPr id="13" name="AutoShape 13"/>
          <p:cNvSpPr/>
          <p:nvPr/>
        </p:nvSpPr>
        <p:spPr>
          <a:xfrm>
            <a:off x="6223000" y="1397000"/>
            <a:ext cx="5207000" cy="3302000"/>
          </a:xfrm>
          <a:prstGeom prst="roundRect">
            <a:avLst>
              <a:gd name="adj" fmla="val 0"/>
            </a:avLst>
          </a:prstGeom>
          <a:solidFill>
            <a:srgbClr val="FFFFFF">
              <a:alpha val="92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223000" y="1397000"/>
            <a:ext cx="52070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413500" y="158750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DICOM (Digital Imaging &amp; Comm.)</a:t>
            </a:r>
            <a:endParaRPr lang="en-US" sz="1100"/>
          </a:p>
        </p:txBody>
      </p:sp>
      <p:sp>
        <p:nvSpPr>
          <p:cNvPr id="16" name="AutoShape 16"/>
          <p:cNvSpPr/>
          <p:nvPr/>
        </p:nvSpPr>
        <p:spPr>
          <a:xfrm>
            <a:off x="6413500" y="2159000"/>
            <a:ext cx="4826000" cy="698500"/>
          </a:xfrm>
          <a:prstGeom prst="roundRect">
            <a:avLst>
              <a:gd name="adj" fmla="val 0"/>
            </a:avLst>
          </a:prstGeom>
          <a:solidFill>
            <a:srgbClr val="4FD1C5">
              <a:alpha val="12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540500" y="2197100"/>
            <a:ext cx="457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医学影像的专属协议：</a:t>
            </a: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专门针对医学图像制定的国际标准，解决了复杂影像数据的存储、传输、显示与共享难题。</a:t>
            </a:r>
            <a:endParaRPr lang="en-US" sz="1100"/>
          </a:p>
        </p:txBody>
      </p:sp>
      <p:sp>
        <p:nvSpPr>
          <p:cNvPr id="18" name="AutoShape 18"/>
          <p:cNvSpPr/>
          <p:nvPr/>
        </p:nvSpPr>
        <p:spPr>
          <a:xfrm>
            <a:off x="6413500" y="2984500"/>
            <a:ext cx="4826000" cy="825500"/>
          </a:xfrm>
          <a:prstGeom prst="roundRect">
            <a:avLst>
              <a:gd name="adj" fmla="val 0"/>
            </a:avLst>
          </a:prstGeom>
          <a:solidFill>
            <a:srgbClr val="F0F9F8">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540500" y="30226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不仅定义了影像文件本身的格式（如CT/MRI图像），还包含了关联的患者信息、检查参数等元数据，以及设备与系统间进行影像传输的底层网络协议。</a:t>
            </a:r>
            <a:endParaRPr lang="en-US" sz="1100"/>
          </a:p>
        </p:txBody>
      </p:sp>
      <p:sp>
        <p:nvSpPr>
          <p:cNvPr id="20" name="AutoShape 20"/>
          <p:cNvSpPr/>
          <p:nvPr/>
        </p:nvSpPr>
        <p:spPr>
          <a:xfrm>
            <a:off x="6413500" y="3937000"/>
            <a:ext cx="4826000" cy="698500"/>
          </a:xfrm>
          <a:prstGeom prst="roundRect">
            <a:avLst>
              <a:gd name="adj" fmla="val 0"/>
            </a:avLst>
          </a:prstGeom>
          <a:solidFill>
            <a:srgbClr val="4FD1C5">
              <a:alpha val="8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540500" y="3975100"/>
            <a:ext cx="457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2D3748">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典型应用于：CT/MRI设备产生影像后自动发送至PACS服务器；医生在工作站通过标准协议调阅、处理和打印患者的历史影像资料。</a:t>
            </a:r>
            <a:endParaRPr lang="en-US" sz="1100"/>
          </a:p>
        </p:txBody>
      </p:sp>
      <p:sp>
        <p:nvSpPr>
          <p:cNvPr id="22" name="AutoShape 22"/>
          <p:cNvSpPr/>
          <p:nvPr/>
        </p:nvSpPr>
        <p:spPr>
          <a:xfrm>
            <a:off x="762000" y="4953000"/>
            <a:ext cx="10668000" cy="1524000"/>
          </a:xfrm>
          <a:prstGeom prst="roundRect">
            <a:avLst>
              <a:gd name="adj" fmla="val 0"/>
            </a:avLst>
          </a:prstGeom>
          <a:solidFill>
            <a:srgbClr val="FFFFFF">
              <a:alpha val="94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952500" y="5080000"/>
            <a:ext cx="5016500" cy="12700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1079500" y="5143500"/>
            <a:ext cx="4699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34E4A"/>
                </a:solidFill>
                <a:latin typeface="Noto Sans SC" panose="020B0200000000000000" charset="-122"/>
                <a:ea typeface="Noto Sans SC" panose="020B0200000000000000" charset="-122"/>
                <a:cs typeface="Noto Sans SC" panose="020B0200000000000000" charset="-122"/>
                <a:sym typeface="Noto Sans SC" panose="020B0200000000000000" charset="-122"/>
              </a:rPr>
              <a:t>HL7：业务流程的“串联线”</a:t>
            </a:r>
            <a:endParaRPr lang="en-US" sz="1100"/>
          </a:p>
        </p:txBody>
      </p:sp>
      <p:sp>
        <p:nvSpPr>
          <p:cNvPr id="25" name="AutoShape 25"/>
          <p:cNvSpPr/>
          <p:nvPr/>
        </p:nvSpPr>
        <p:spPr>
          <a:xfrm>
            <a:off x="1079500" y="5524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2D3748">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负责医院各业务系统间的“指令沟通”与“结果回传”，确保从开单、检查到报告的全流程数据自动化流转，是医院信息互联互通的业务基石。</a:t>
            </a:r>
            <a:endParaRPr lang="en-US" sz="1100"/>
          </a:p>
        </p:txBody>
      </p:sp>
      <p:cxnSp>
        <p:nvCxnSpPr>
          <p:cNvPr id="26" name="Connector 26"/>
          <p:cNvCxnSpPr/>
          <p:nvPr/>
        </p:nvCxnSpPr>
        <p:spPr>
          <a:xfrm rot="5361804">
            <a:off x="5524500" y="5708685"/>
            <a:ext cx="1143000" cy="12700"/>
          </a:xfrm>
          <a:prstGeom prst="straightConnector1">
            <a:avLst/>
          </a:prstGeom>
          <a:solidFill>
            <a:srgbClr val="DEE0E3">
              <a:alpha val="100000"/>
            </a:srgbClr>
          </a:solidFill>
          <a:ln w="12700" cap="flat" cmpd="sng">
            <a:solidFill>
              <a:srgbClr val="4FD1C5">
                <a:alpha val="30000"/>
              </a:srgbClr>
            </a:solidFill>
            <a:prstDash val="solid"/>
            <a:round/>
            <a:headEnd type="none" w="med" len="med"/>
            <a:tailEnd type="none" w="med" len="med"/>
          </a:ln>
        </p:spPr>
      </p:cxnSp>
      <p:sp>
        <p:nvSpPr>
          <p:cNvPr id="27" name="AutoShape 27"/>
          <p:cNvSpPr/>
          <p:nvPr/>
        </p:nvSpPr>
        <p:spPr>
          <a:xfrm>
            <a:off x="6286500" y="5080000"/>
            <a:ext cx="5016500" cy="12700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413500" y="5143500"/>
            <a:ext cx="4699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134E4A"/>
                </a:solidFill>
                <a:latin typeface="Noto Sans SC" panose="020B0200000000000000" charset="-122"/>
                <a:ea typeface="Noto Sans SC" panose="020B0200000000000000" charset="-122"/>
                <a:cs typeface="Noto Sans SC" panose="020B0200000000000000" charset="-122"/>
                <a:sym typeface="Noto Sans SC" panose="020B0200000000000000" charset="-122"/>
              </a:rPr>
              <a:t>DICOM：影像数据的“运输船”</a:t>
            </a:r>
            <a:endParaRPr lang="en-US" sz="1100"/>
          </a:p>
        </p:txBody>
      </p:sp>
      <p:sp>
        <p:nvSpPr>
          <p:cNvPr id="29" name="AutoShape 29"/>
          <p:cNvSpPr/>
          <p:nvPr/>
        </p:nvSpPr>
        <p:spPr>
          <a:xfrm>
            <a:off x="6413500" y="5524500"/>
            <a:ext cx="4699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0" i="0" u="none" strike="noStrike">
                <a:solidFill>
                  <a:srgbClr val="2D3748">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解决了异构影像设备与系统间的兼容问题，实现了高质量影像数据的无损传输与统一存储，让“无胶片化”和远程影像诊断成为可能。</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79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HL7消息示例解析</a:t>
            </a:r>
            <a:endParaRPr lang="en-US" sz="1100"/>
          </a:p>
        </p:txBody>
      </p:sp>
      <p:sp>
        <p:nvSpPr>
          <p:cNvPr id="4" name="AutoShape 4"/>
          <p:cNvSpPr/>
          <p:nvPr/>
        </p:nvSpPr>
        <p:spPr>
          <a:xfrm>
            <a:off x="762000" y="1397000"/>
            <a:ext cx="5270500" cy="5080000"/>
          </a:xfrm>
          <a:prstGeom prst="roundRect">
            <a:avLst>
              <a:gd name="adj" fmla="val 0"/>
            </a:avLst>
          </a:prstGeom>
          <a:solidFill>
            <a:srgbClr val="FFFFFF">
              <a:alpha val="92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397000"/>
            <a:ext cx="5270500" cy="609600"/>
          </a:xfrm>
          <a:prstGeom prst="roundRect">
            <a:avLst>
              <a:gd name="adj" fmla="val 0"/>
            </a:avLst>
          </a:prstGeom>
          <a:solidFill>
            <a:srgbClr val="4FD1C5">
              <a:alpha val="3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952500" y="14478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ORM^O01 · 检验申请消息</a:t>
            </a:r>
            <a:endParaRPr lang="en-US" sz="1100"/>
          </a:p>
        </p:txBody>
      </p:sp>
      <p:sp>
        <p:nvSpPr>
          <p:cNvPr id="7" name="AutoShape 7"/>
          <p:cNvSpPr/>
          <p:nvPr/>
        </p:nvSpPr>
        <p:spPr>
          <a:xfrm>
            <a:off x="889000" y="2159000"/>
            <a:ext cx="5016500" cy="1778000"/>
          </a:xfrm>
          <a:prstGeom prst="roundRect">
            <a:avLst>
              <a:gd name="adj" fmla="val 0"/>
            </a:avLst>
          </a:prstGeom>
          <a:solidFill>
            <a:srgbClr val="2D3748">
              <a:alpha val="92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016000" y="2260600"/>
            <a:ext cx="47625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t>MSH|^~\&amp;|HIS_System|Hospital_A|LIS_System|Lab_A|202605261000||ORM^O01|MSGID12345|P|2.3</a:t>
            </a:r>
            <a:b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t>PID|||P0012345||Zhang^San||19850615|M</a:t>
            </a:r>
            <a:b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t>PV1||O|Dept_Internal_Medicine||||^Doctor_Li|||OPD</a:t>
            </a:r>
            <a:b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t>OBR|1|||CBC^Complete Blood Count|||202605261000</a:t>
            </a:r>
            <a:endParaRPr lang="en-US" sz="1100"/>
          </a:p>
        </p:txBody>
      </p:sp>
      <p:sp>
        <p:nvSpPr>
          <p:cNvPr id="9" name="AutoShape 9"/>
          <p:cNvSpPr/>
          <p:nvPr/>
        </p:nvSpPr>
        <p:spPr>
          <a:xfrm>
            <a:off x="889000" y="4127500"/>
            <a:ext cx="2438400" cy="1079500"/>
          </a:xfrm>
          <a:prstGeom prst="roundRect">
            <a:avLst>
              <a:gd name="adj" fmla="val 0"/>
            </a:avLst>
          </a:prstGeom>
          <a:solidFill>
            <a:srgbClr val="4FD1C5">
              <a:alpha val="16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965200" y="4165600"/>
            <a:ext cx="228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04E4B"/>
                </a:solidFill>
                <a:latin typeface="Noto Sans SC" panose="020B0200000000000000" charset="-122"/>
                <a:ea typeface="Noto Sans SC" panose="020B0200000000000000" charset="-122"/>
                <a:cs typeface="Noto Sans SC" panose="020B0200000000000000" charset="-122"/>
                <a:sym typeface="Noto Sans SC" panose="020B0200000000000000" charset="-122"/>
              </a:rPr>
              <a:t>MSH 消息头</a:t>
            </a:r>
            <a:endParaRPr lang="en-US" sz="1100"/>
          </a:p>
        </p:txBody>
      </p:sp>
      <p:sp>
        <p:nvSpPr>
          <p:cNvPr id="11" name="AutoShape 11"/>
          <p:cNvSpPr/>
          <p:nvPr/>
        </p:nvSpPr>
        <p:spPr>
          <a:xfrm>
            <a:off x="965200" y="44704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定义通信双方系统、消息类型及版本，是数据交互的基础身份标识。</a:t>
            </a:r>
            <a:endParaRPr lang="en-US" sz="1100"/>
          </a:p>
        </p:txBody>
      </p:sp>
      <p:sp>
        <p:nvSpPr>
          <p:cNvPr id="12" name="AutoShape 12"/>
          <p:cNvSpPr/>
          <p:nvPr/>
        </p:nvSpPr>
        <p:spPr>
          <a:xfrm>
            <a:off x="3454400" y="4127500"/>
            <a:ext cx="2438400" cy="1079500"/>
          </a:xfrm>
          <a:prstGeom prst="roundRect">
            <a:avLst>
              <a:gd name="adj" fmla="val 0"/>
            </a:avLst>
          </a:prstGeom>
          <a:solidFill>
            <a:srgbClr val="4FD1C5">
              <a:alpha val="16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3530600" y="4165600"/>
            <a:ext cx="228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04E4B"/>
                </a:solidFill>
                <a:latin typeface="Noto Sans SC" panose="020B0200000000000000" charset="-122"/>
                <a:ea typeface="Noto Sans SC" panose="020B0200000000000000" charset="-122"/>
                <a:cs typeface="Noto Sans SC" panose="020B0200000000000000" charset="-122"/>
                <a:sym typeface="Noto Sans SC" panose="020B0200000000000000" charset="-122"/>
              </a:rPr>
              <a:t>PID 患者信息</a:t>
            </a:r>
            <a:endParaRPr lang="en-US" sz="1100"/>
          </a:p>
        </p:txBody>
      </p:sp>
      <p:sp>
        <p:nvSpPr>
          <p:cNvPr id="14" name="AutoShape 14"/>
          <p:cNvSpPr/>
          <p:nvPr/>
        </p:nvSpPr>
        <p:spPr>
          <a:xfrm>
            <a:off x="3530600" y="44704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包含患者唯一编号、姓名、出生日期与性别，确保主体身份准确无误。</a:t>
            </a:r>
            <a:endParaRPr lang="en-US" sz="1100"/>
          </a:p>
        </p:txBody>
      </p:sp>
      <p:sp>
        <p:nvSpPr>
          <p:cNvPr id="15" name="AutoShape 15"/>
          <p:cNvSpPr/>
          <p:nvPr/>
        </p:nvSpPr>
        <p:spPr>
          <a:xfrm>
            <a:off x="889000" y="5334000"/>
            <a:ext cx="2438400" cy="1079500"/>
          </a:xfrm>
          <a:prstGeom prst="roundRect">
            <a:avLst>
              <a:gd name="adj" fmla="val 0"/>
            </a:avLst>
          </a:prstGeom>
          <a:solidFill>
            <a:srgbClr val="4FD1C5">
              <a:alpha val="16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965200" y="5372100"/>
            <a:ext cx="228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04E4B"/>
                </a:solidFill>
                <a:latin typeface="Noto Sans SC" panose="020B0200000000000000" charset="-122"/>
                <a:ea typeface="Noto Sans SC" panose="020B0200000000000000" charset="-122"/>
                <a:cs typeface="Noto Sans SC" panose="020B0200000000000000" charset="-122"/>
                <a:sym typeface="Noto Sans SC" panose="020B0200000000000000" charset="-122"/>
              </a:rPr>
              <a:t>PV1 就诊场景</a:t>
            </a:r>
            <a:endParaRPr lang="en-US" sz="1100"/>
          </a:p>
        </p:txBody>
      </p:sp>
      <p:sp>
        <p:nvSpPr>
          <p:cNvPr id="17" name="AutoShape 17"/>
          <p:cNvSpPr/>
          <p:nvPr/>
        </p:nvSpPr>
        <p:spPr>
          <a:xfrm>
            <a:off x="965200" y="56769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记录就诊科室、接诊医生及门诊/住院状态，明确服务发生的具体环境。</a:t>
            </a:r>
            <a:endParaRPr lang="en-US" sz="1100"/>
          </a:p>
        </p:txBody>
      </p:sp>
      <p:sp>
        <p:nvSpPr>
          <p:cNvPr id="18" name="AutoShape 18"/>
          <p:cNvSpPr/>
          <p:nvPr/>
        </p:nvSpPr>
        <p:spPr>
          <a:xfrm>
            <a:off x="3454400" y="5334000"/>
            <a:ext cx="2438400" cy="1079500"/>
          </a:xfrm>
          <a:prstGeom prst="roundRect">
            <a:avLst>
              <a:gd name="adj" fmla="val 0"/>
            </a:avLst>
          </a:prstGeom>
          <a:solidFill>
            <a:srgbClr val="4FD1C5">
              <a:alpha val="16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3530600" y="5372100"/>
            <a:ext cx="228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04E4B"/>
                </a:solidFill>
                <a:latin typeface="Noto Sans SC" panose="020B0200000000000000" charset="-122"/>
                <a:ea typeface="Noto Sans SC" panose="020B0200000000000000" charset="-122"/>
                <a:cs typeface="Noto Sans SC" panose="020B0200000000000000" charset="-122"/>
                <a:sym typeface="Noto Sans SC" panose="020B0200000000000000" charset="-122"/>
              </a:rPr>
              <a:t>OBR 检验指令</a:t>
            </a:r>
            <a:endParaRPr lang="en-US" sz="1100"/>
          </a:p>
        </p:txBody>
      </p:sp>
      <p:sp>
        <p:nvSpPr>
          <p:cNvPr id="20" name="AutoShape 20"/>
          <p:cNvSpPr/>
          <p:nvPr/>
        </p:nvSpPr>
        <p:spPr>
          <a:xfrm>
            <a:off x="3530600" y="56769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核心执行段，明确检验项目名称与申请时间，驱动实验室工作流。</a:t>
            </a:r>
            <a:endParaRPr lang="en-US" sz="1100"/>
          </a:p>
        </p:txBody>
      </p:sp>
      <p:cxnSp>
        <p:nvCxnSpPr>
          <p:cNvPr id="21" name="Connector 21"/>
          <p:cNvCxnSpPr/>
          <p:nvPr/>
        </p:nvCxnSpPr>
        <p:spPr>
          <a:xfrm rot="5391405">
            <a:off x="3581400" y="3930658"/>
            <a:ext cx="5080000" cy="12700"/>
          </a:xfrm>
          <a:prstGeom prst="straightConnector1">
            <a:avLst/>
          </a:prstGeom>
          <a:solidFill>
            <a:srgbClr val="DEE0E3">
              <a:alpha val="100000"/>
            </a:srgbClr>
          </a:solidFill>
          <a:ln w="12700" cap="flat" cmpd="sng">
            <a:solidFill>
              <a:srgbClr val="4FD1C5">
                <a:alpha val="30000"/>
              </a:srgbClr>
            </a:solidFill>
            <a:prstDash val="dash"/>
            <a:round/>
            <a:headEnd type="none" w="med" len="med"/>
            <a:tailEnd type="none" w="med" len="med"/>
          </a:ln>
        </p:spPr>
      </p:cxnSp>
      <p:sp>
        <p:nvSpPr>
          <p:cNvPr id="22" name="AutoShape 22"/>
          <p:cNvSpPr/>
          <p:nvPr/>
        </p:nvSpPr>
        <p:spPr>
          <a:xfrm>
            <a:off x="6223000" y="1397000"/>
            <a:ext cx="5270500" cy="5080000"/>
          </a:xfrm>
          <a:prstGeom prst="roundRect">
            <a:avLst>
              <a:gd name="adj" fmla="val 0"/>
            </a:avLst>
          </a:prstGeom>
          <a:solidFill>
            <a:srgbClr val="FFFFFF">
              <a:alpha val="92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6223000" y="1397000"/>
            <a:ext cx="5270500" cy="609600"/>
          </a:xfrm>
          <a:prstGeom prst="roundRect">
            <a:avLst>
              <a:gd name="adj" fmla="val 0"/>
            </a:avLst>
          </a:prstGeom>
          <a:solidFill>
            <a:srgbClr val="4FD1C5">
              <a:alpha val="3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nvSpPr>
        <p:spPr>
          <a:xfrm>
            <a:off x="6413500" y="1447800"/>
            <a:ext cx="4826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ORU^R01 · 检验结果消息</a:t>
            </a:r>
            <a:endParaRPr lang="en-US" sz="1100"/>
          </a:p>
        </p:txBody>
      </p:sp>
      <p:sp>
        <p:nvSpPr>
          <p:cNvPr id="25" name="AutoShape 25"/>
          <p:cNvSpPr/>
          <p:nvPr/>
        </p:nvSpPr>
        <p:spPr>
          <a:xfrm>
            <a:off x="6350000" y="2159000"/>
            <a:ext cx="5016500" cy="1778000"/>
          </a:xfrm>
          <a:prstGeom prst="roundRect">
            <a:avLst>
              <a:gd name="adj" fmla="val 0"/>
            </a:avLst>
          </a:prstGeom>
          <a:solidFill>
            <a:srgbClr val="2D3748">
              <a:alpha val="92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477000" y="2260600"/>
            <a:ext cx="47625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t>MSH|^~\&amp;|LIS_System|Lab_A|HIS_System|Hospital_A|202605261030||ORU^R01|RESID67890|P|2.3</a:t>
            </a:r>
            <a:b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t>PID|||P0012345||Zhang^San</a:t>
            </a:r>
            <a:b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t>OBR|1||SAMPLE_BARCODE_789|CBC^Complete Blood Count</a:t>
            </a:r>
            <a:b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t>OBX|1|NM|WBC^White Blood Cells|7.2|10^9/L|4.0-10.0||N</a:t>
            </a:r>
            <a:b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br>
            <a:r>
              <a:rPr lang="en-US" sz="1200" b="0" i="0" u="none" strike="noStrike">
                <a:solidFill>
                  <a:srgbClr val="EDF2F7"/>
                </a:solidFill>
                <a:latin typeface="Consolas" panose="020B0609020204030204"/>
                <a:ea typeface="Consolas" panose="020B0609020204030204"/>
                <a:cs typeface="Consolas" panose="020B0609020204030204"/>
                <a:sym typeface="Consolas" panose="020B0609020204030204"/>
              </a:rPr>
              <a:t>OBX|2|NM|RBC^Red Blood Cells|4.8|10^12/L|4.3-5.8||N</a:t>
            </a:r>
            <a:endParaRPr lang="en-US" sz="1100"/>
          </a:p>
        </p:txBody>
      </p:sp>
      <p:sp>
        <p:nvSpPr>
          <p:cNvPr id="27" name="AutoShape 27"/>
          <p:cNvSpPr/>
          <p:nvPr/>
        </p:nvSpPr>
        <p:spPr>
          <a:xfrm>
            <a:off x="6350000" y="4127500"/>
            <a:ext cx="2438400" cy="1079500"/>
          </a:xfrm>
          <a:prstGeom prst="roundRect">
            <a:avLst>
              <a:gd name="adj" fmla="val 0"/>
            </a:avLst>
          </a:prstGeom>
          <a:solidFill>
            <a:srgbClr val="4FD1C5">
              <a:alpha val="16000"/>
            </a:srgbClr>
          </a:solidFill>
          <a:ln w="25400" cap="flat" cmpd="sng">
            <a:noFill/>
            <a:prstDash val="solid"/>
            <a:round/>
          </a:ln>
        </p:spPr>
        <p:txBody>
          <a:bodyPr vert="horz" wrap="square" lIns="63500" tIns="63500" rIns="63500" bIns="63500" rtlCol="0" anchor="ctr"/>
          <a:lstStyle/>
          <a:p>
            <a:pPr algn="ctr">
              <a:defRPr/>
            </a:pPr>
          </a:p>
        </p:txBody>
      </p:sp>
      <p:sp>
        <p:nvSpPr>
          <p:cNvPr id="28" name="AutoShape 28"/>
          <p:cNvSpPr/>
          <p:nvPr/>
        </p:nvSpPr>
        <p:spPr>
          <a:xfrm>
            <a:off x="6426200" y="4165600"/>
            <a:ext cx="228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04E4B"/>
                </a:solidFill>
                <a:latin typeface="Noto Sans SC" panose="020B0200000000000000" charset="-122"/>
                <a:ea typeface="Noto Sans SC" panose="020B0200000000000000" charset="-122"/>
                <a:cs typeface="Noto Sans SC" panose="020B0200000000000000" charset="-122"/>
                <a:sym typeface="Noto Sans SC" panose="020B0200000000000000" charset="-122"/>
              </a:rPr>
              <a:t>MSH 响应头</a:t>
            </a:r>
            <a:endParaRPr lang="en-US" sz="1100"/>
          </a:p>
        </p:txBody>
      </p:sp>
      <p:sp>
        <p:nvSpPr>
          <p:cNvPr id="29" name="AutoShape 29"/>
          <p:cNvSpPr/>
          <p:nvPr/>
        </p:nvSpPr>
        <p:spPr>
          <a:xfrm>
            <a:off x="6426200" y="44704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结果回传的元数据，标识消息流向与格式版本，确保解析一致性。</a:t>
            </a:r>
            <a:endParaRPr lang="en-US" sz="1100"/>
          </a:p>
        </p:txBody>
      </p:sp>
      <p:sp>
        <p:nvSpPr>
          <p:cNvPr id="30" name="AutoShape 30"/>
          <p:cNvSpPr/>
          <p:nvPr/>
        </p:nvSpPr>
        <p:spPr>
          <a:xfrm>
            <a:off x="8915400" y="4127500"/>
            <a:ext cx="2438400" cy="1079500"/>
          </a:xfrm>
          <a:prstGeom prst="roundRect">
            <a:avLst>
              <a:gd name="adj" fmla="val 0"/>
            </a:avLst>
          </a:prstGeom>
          <a:solidFill>
            <a:srgbClr val="4FD1C5">
              <a:alpha val="16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8991600" y="4165600"/>
            <a:ext cx="228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04E4B"/>
                </a:solidFill>
                <a:latin typeface="Noto Sans SC" panose="020B0200000000000000" charset="-122"/>
                <a:ea typeface="Noto Sans SC" panose="020B0200000000000000" charset="-122"/>
                <a:cs typeface="Noto Sans SC" panose="020B0200000000000000" charset="-122"/>
                <a:sym typeface="Noto Sans SC" panose="020B0200000000000000" charset="-122"/>
              </a:rPr>
              <a:t>PID 身份关联</a:t>
            </a:r>
            <a:endParaRPr lang="en-US" sz="1100"/>
          </a:p>
        </p:txBody>
      </p:sp>
      <p:sp>
        <p:nvSpPr>
          <p:cNvPr id="32" name="AutoShape 32"/>
          <p:cNvSpPr/>
          <p:nvPr/>
        </p:nvSpPr>
        <p:spPr>
          <a:xfrm>
            <a:off x="8991600" y="44704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与申请单严格对应的患者信息，防止结果在传输中出现主体混淆。</a:t>
            </a:r>
            <a:endParaRPr lang="en-US" sz="1100"/>
          </a:p>
        </p:txBody>
      </p:sp>
      <p:sp>
        <p:nvSpPr>
          <p:cNvPr id="33" name="AutoShape 33"/>
          <p:cNvSpPr/>
          <p:nvPr/>
        </p:nvSpPr>
        <p:spPr>
          <a:xfrm>
            <a:off x="6350000" y="5334000"/>
            <a:ext cx="2438400" cy="1079500"/>
          </a:xfrm>
          <a:prstGeom prst="roundRect">
            <a:avLst>
              <a:gd name="adj" fmla="val 0"/>
            </a:avLst>
          </a:prstGeom>
          <a:solidFill>
            <a:srgbClr val="4FD1C5">
              <a:alpha val="16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6426200" y="5372100"/>
            <a:ext cx="228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04E4B"/>
                </a:solidFill>
                <a:latin typeface="Noto Sans SC" panose="020B0200000000000000" charset="-122"/>
                <a:ea typeface="Noto Sans SC" panose="020B0200000000000000" charset="-122"/>
                <a:cs typeface="Noto Sans SC" panose="020B0200000000000000" charset="-122"/>
                <a:sym typeface="Noto Sans SC" panose="020B0200000000000000" charset="-122"/>
              </a:rPr>
              <a:t>OBR 样本关联</a:t>
            </a:r>
            <a:endParaRPr lang="en-US" sz="1100"/>
          </a:p>
        </p:txBody>
      </p:sp>
      <p:sp>
        <p:nvSpPr>
          <p:cNvPr id="35" name="AutoShape 35"/>
          <p:cNvSpPr/>
          <p:nvPr/>
        </p:nvSpPr>
        <p:spPr>
          <a:xfrm>
            <a:off x="6426200" y="56769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通过样本条码将结果与原始申请指令绑定，建立闭环的可追溯性。</a:t>
            </a:r>
            <a:endParaRPr lang="en-US" sz="1100"/>
          </a:p>
        </p:txBody>
      </p:sp>
      <p:sp>
        <p:nvSpPr>
          <p:cNvPr id="36" name="AutoShape 36"/>
          <p:cNvSpPr/>
          <p:nvPr/>
        </p:nvSpPr>
        <p:spPr>
          <a:xfrm>
            <a:off x="8915400" y="5334000"/>
            <a:ext cx="2438400" cy="1079500"/>
          </a:xfrm>
          <a:prstGeom prst="roundRect">
            <a:avLst>
              <a:gd name="adj" fmla="val 0"/>
            </a:avLst>
          </a:prstGeom>
          <a:solidFill>
            <a:srgbClr val="4FD1C5">
              <a:alpha val="16000"/>
            </a:srgbClr>
          </a:solidFill>
          <a:ln w="25400" cap="flat" cmpd="sng">
            <a:noFill/>
            <a:prstDash val="solid"/>
            <a:round/>
          </a:ln>
        </p:spPr>
        <p:txBody>
          <a:bodyPr vert="horz" wrap="square" lIns="63500" tIns="63500" rIns="63500" bIns="63500" rtlCol="0" anchor="ctr"/>
          <a:lstStyle/>
          <a:p>
            <a:pPr algn="ctr">
              <a:defRPr/>
            </a:pPr>
          </a:p>
        </p:txBody>
      </p:sp>
      <p:sp>
        <p:nvSpPr>
          <p:cNvPr id="37" name="AutoShape 37"/>
          <p:cNvSpPr/>
          <p:nvPr/>
        </p:nvSpPr>
        <p:spPr>
          <a:xfrm>
            <a:off x="8991600" y="5372100"/>
            <a:ext cx="2286000" cy="279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04E4B"/>
                </a:solidFill>
                <a:latin typeface="Noto Sans SC" panose="020B0200000000000000" charset="-122"/>
                <a:ea typeface="Noto Sans SC" panose="020B0200000000000000" charset="-122"/>
                <a:cs typeface="Noto Sans SC" panose="020B0200000000000000" charset="-122"/>
                <a:sym typeface="Noto Sans SC" panose="020B0200000000000000" charset="-122"/>
              </a:rPr>
              <a:t>OBX 结果明细</a:t>
            </a:r>
            <a:endParaRPr lang="en-US" sz="1100"/>
          </a:p>
        </p:txBody>
      </p:sp>
      <p:sp>
        <p:nvSpPr>
          <p:cNvPr id="38" name="AutoShape 38"/>
          <p:cNvSpPr/>
          <p:nvPr/>
        </p:nvSpPr>
        <p:spPr>
          <a:xfrm>
            <a:off x="8991600" y="5676900"/>
            <a:ext cx="228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A5568"/>
                </a:solidFill>
                <a:latin typeface="Noto Sans SC" panose="020B0200000000000000" charset="-122"/>
                <a:ea typeface="Noto Sans SC" panose="020B0200000000000000" charset="-122"/>
                <a:cs typeface="Noto Sans SC" panose="020B0200000000000000" charset="-122"/>
                <a:sym typeface="Noto Sans SC" panose="020B0200000000000000" charset="-122"/>
              </a:rPr>
              <a:t>承载具体的检测数值、单位及参考范围，是临床诊疗的核心依据。</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核心要点与未来展望</a:t>
            </a:r>
            <a:endParaRPr lang="en-US" sz="1100"/>
          </a:p>
        </p:txBody>
      </p:sp>
      <p:sp>
        <p:nvSpPr>
          <p:cNvPr id="4" name="AutoShape 4"/>
          <p:cNvSpPr/>
          <p:nvPr/>
        </p:nvSpPr>
        <p:spPr>
          <a:xfrm>
            <a:off x="762000" y="1524000"/>
            <a:ext cx="2603500" cy="1968500"/>
          </a:xfrm>
          <a:prstGeom prst="roundRect">
            <a:avLst>
              <a:gd name="adj" fmla="val 0"/>
            </a:avLst>
          </a:prstGeom>
          <a:solidFill>
            <a:srgbClr val="FFFFFF">
              <a:alpha val="92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762000" y="1524000"/>
            <a:ext cx="26035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889000" y="16764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标准化与唯一性</a:t>
            </a:r>
            <a:endParaRPr lang="en-US" sz="1100"/>
          </a:p>
        </p:txBody>
      </p:sp>
      <p:sp>
        <p:nvSpPr>
          <p:cNvPr id="7" name="AutoShape 7"/>
          <p:cNvSpPr/>
          <p:nvPr/>
        </p:nvSpPr>
        <p:spPr>
          <a:xfrm>
            <a:off x="889000" y="21590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2D3748">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建立统一的患者主索引（PMI），确保在不同系统间患者身份的唯一识别，消除信息孤岛，为跨系统数据共享奠定基础。</a:t>
            </a:r>
            <a:endParaRPr lang="en-US" sz="1100"/>
          </a:p>
        </p:txBody>
      </p:sp>
      <p:sp>
        <p:nvSpPr>
          <p:cNvPr id="8" name="AutoShape 8"/>
          <p:cNvSpPr/>
          <p:nvPr/>
        </p:nvSpPr>
        <p:spPr>
          <a:xfrm>
            <a:off x="3492500" y="1524000"/>
            <a:ext cx="2603500" cy="1968500"/>
          </a:xfrm>
          <a:prstGeom prst="roundRect">
            <a:avLst>
              <a:gd name="adj" fmla="val 0"/>
            </a:avLst>
          </a:prstGeom>
          <a:solidFill>
            <a:srgbClr val="FFFFFF">
              <a:alpha val="92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3492500" y="1524000"/>
            <a:ext cx="26035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619500" y="16764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关系型设计</a:t>
            </a:r>
            <a:endParaRPr lang="en-US" sz="1100"/>
          </a:p>
        </p:txBody>
      </p:sp>
      <p:sp>
        <p:nvSpPr>
          <p:cNvPr id="11" name="AutoShape 11"/>
          <p:cNvSpPr/>
          <p:nvPr/>
        </p:nvSpPr>
        <p:spPr>
          <a:xfrm>
            <a:off x="3619500" y="21590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2D3748">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严格遵循数据库设计范式，通过合理的主键与外键关联建立表间关系，保证数据的一致性、完整性和可维护性。</a:t>
            </a:r>
            <a:endParaRPr lang="en-US" sz="1100"/>
          </a:p>
        </p:txBody>
      </p:sp>
      <p:sp>
        <p:nvSpPr>
          <p:cNvPr id="12" name="AutoShape 12"/>
          <p:cNvSpPr/>
          <p:nvPr/>
        </p:nvSpPr>
        <p:spPr>
          <a:xfrm>
            <a:off x="6223000" y="1524000"/>
            <a:ext cx="2603500" cy="1968500"/>
          </a:xfrm>
          <a:prstGeom prst="roundRect">
            <a:avLst>
              <a:gd name="adj" fmla="val 0"/>
            </a:avLst>
          </a:prstGeom>
          <a:solidFill>
            <a:srgbClr val="FFFFFF">
              <a:alpha val="92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223000" y="1524000"/>
            <a:ext cx="26035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4" name="AutoShape 14"/>
          <p:cNvSpPr/>
          <p:nvPr/>
        </p:nvSpPr>
        <p:spPr>
          <a:xfrm>
            <a:off x="6350000" y="16764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状态驱动机制</a:t>
            </a:r>
            <a:endParaRPr lang="en-US" sz="1100"/>
          </a:p>
        </p:txBody>
      </p:sp>
      <p:sp>
        <p:nvSpPr>
          <p:cNvPr id="15" name="AutoShape 15"/>
          <p:cNvSpPr/>
          <p:nvPr/>
        </p:nvSpPr>
        <p:spPr>
          <a:xfrm>
            <a:off x="6350000" y="21590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2D3748">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将业务流程抽象为状态流转，通过状态字段精准控制业务节点。实现流程的自动化处理与可追溯，提升业务响应效率。</a:t>
            </a:r>
            <a:endParaRPr lang="en-US" sz="1100"/>
          </a:p>
        </p:txBody>
      </p:sp>
      <p:sp>
        <p:nvSpPr>
          <p:cNvPr id="16" name="AutoShape 16"/>
          <p:cNvSpPr/>
          <p:nvPr/>
        </p:nvSpPr>
        <p:spPr>
          <a:xfrm>
            <a:off x="8953500" y="1524000"/>
            <a:ext cx="2603500" cy="1968500"/>
          </a:xfrm>
          <a:prstGeom prst="roundRect">
            <a:avLst>
              <a:gd name="adj" fmla="val 0"/>
            </a:avLst>
          </a:prstGeom>
          <a:solidFill>
            <a:srgbClr val="FFFFFF">
              <a:alpha val="92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8953500" y="1524000"/>
            <a:ext cx="26035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9080500" y="1676400"/>
            <a:ext cx="2349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4FD1C5"/>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数据字典体系</a:t>
            </a:r>
            <a:endParaRPr lang="en-US" sz="1100"/>
          </a:p>
        </p:txBody>
      </p:sp>
      <p:sp>
        <p:nvSpPr>
          <p:cNvPr id="19" name="AutoShape 19"/>
          <p:cNvSpPr/>
          <p:nvPr/>
        </p:nvSpPr>
        <p:spPr>
          <a:xfrm>
            <a:off x="9080500" y="2159000"/>
            <a:ext cx="234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2D3748">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建立标准化的项目数据字典，采用代码化存储。统一业务术语，减少歧义，为系统间的高效数据交换提供标准语言。</a:t>
            </a:r>
            <a:endParaRPr lang="en-US" sz="1100"/>
          </a:p>
        </p:txBody>
      </p:sp>
      <p:sp>
        <p:nvSpPr>
          <p:cNvPr id="20" name="AutoShape 20"/>
          <p:cNvSpPr/>
          <p:nvPr/>
        </p:nvSpPr>
        <p:spPr>
          <a:xfrm>
            <a:off x="762000" y="3683000"/>
            <a:ext cx="3492500" cy="1841500"/>
          </a:xfrm>
          <a:prstGeom prst="roundRect">
            <a:avLst>
              <a:gd name="adj" fmla="val 0"/>
            </a:avLst>
          </a:prstGeom>
          <a:solidFill>
            <a:srgbClr val="FFFFFF">
              <a:alpha val="95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762000" y="3683000"/>
            <a:ext cx="3492500" cy="38100"/>
          </a:xfrm>
          <a:prstGeom prst="roundRect">
            <a:avLst>
              <a:gd name="adj" fmla="val 0"/>
            </a:avLst>
          </a:prstGeom>
          <a:solidFill>
            <a:srgbClr val="14B8A6">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889000" y="38354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4B8A6"/>
                </a:solidFill>
                <a:latin typeface="Noto Sans SC" panose="020B0200000000000000" charset="-122"/>
                <a:ea typeface="Noto Sans SC" panose="020B0200000000000000" charset="-122"/>
                <a:cs typeface="Noto Sans SC" panose="020B0200000000000000" charset="-122"/>
                <a:sym typeface="Noto Sans SC" panose="020B0200000000000000" charset="-122"/>
              </a:rPr>
              <a:t>FHIR 标准技术革新</a:t>
            </a:r>
            <a:endParaRPr lang="en-US" sz="1100"/>
          </a:p>
        </p:txBody>
      </p:sp>
      <p:sp>
        <p:nvSpPr>
          <p:cNvPr id="23" name="AutoShape 23"/>
          <p:cNvSpPr/>
          <p:nvPr/>
        </p:nvSpPr>
        <p:spPr>
          <a:xfrm>
            <a:off x="889000" y="4318000"/>
            <a:ext cx="3238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2D3748">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HL7 FHIR作为新一代医疗数据交换标准，以资源为中心，结构灵活且易于实现。它打破了传统集成的复杂性，将成为未来医疗系统互联互通的主流技术底座。</a:t>
            </a:r>
            <a:endParaRPr lang="en-US" sz="1100"/>
          </a:p>
        </p:txBody>
      </p:sp>
      <p:sp>
        <p:nvSpPr>
          <p:cNvPr id="24" name="AutoShape 24"/>
          <p:cNvSpPr/>
          <p:nvPr/>
        </p:nvSpPr>
        <p:spPr>
          <a:xfrm>
            <a:off x="4445000" y="3683000"/>
            <a:ext cx="3492500" cy="1841500"/>
          </a:xfrm>
          <a:prstGeom prst="roundRect">
            <a:avLst>
              <a:gd name="adj" fmla="val 0"/>
            </a:avLst>
          </a:prstGeom>
          <a:solidFill>
            <a:srgbClr val="FFFFFF">
              <a:alpha val="95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4445000" y="3683000"/>
            <a:ext cx="3492500" cy="38100"/>
          </a:xfrm>
          <a:prstGeom prst="roundRect">
            <a:avLst>
              <a:gd name="adj" fmla="val 0"/>
            </a:avLst>
          </a:prstGeom>
          <a:solidFill>
            <a:srgbClr val="14B8A6">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4572000" y="38354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4B8A6"/>
                </a:solidFill>
                <a:latin typeface="Noto Sans SC" panose="020B0200000000000000" charset="-122"/>
                <a:ea typeface="Noto Sans SC" panose="020B0200000000000000" charset="-122"/>
                <a:cs typeface="Noto Sans SC" panose="020B0200000000000000" charset="-122"/>
                <a:sym typeface="Noto Sans SC" panose="020B0200000000000000" charset="-122"/>
              </a:rPr>
              <a:t>医疗大数据与AI赋能</a:t>
            </a:r>
            <a:endParaRPr lang="en-US" sz="1100"/>
          </a:p>
        </p:txBody>
      </p:sp>
      <p:sp>
        <p:nvSpPr>
          <p:cNvPr id="27" name="AutoShape 27"/>
          <p:cNvSpPr/>
          <p:nvPr/>
        </p:nvSpPr>
        <p:spPr>
          <a:xfrm>
            <a:off x="4572000" y="4318000"/>
            <a:ext cx="3238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2D3748">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海量高质量数据的积累为智能化应用提供了土壤。通过AI技术实现临床决策支持(CDSS)、早期疾病预测及个性化治疗方案，将医疗服务从“经验驱动”升级为“数据驱动”。</a:t>
            </a:r>
            <a:endParaRPr lang="en-US" sz="1100"/>
          </a:p>
        </p:txBody>
      </p:sp>
      <p:sp>
        <p:nvSpPr>
          <p:cNvPr id="28" name="AutoShape 28"/>
          <p:cNvSpPr/>
          <p:nvPr/>
        </p:nvSpPr>
        <p:spPr>
          <a:xfrm>
            <a:off x="8128000" y="3683000"/>
            <a:ext cx="3492500" cy="1841500"/>
          </a:xfrm>
          <a:prstGeom prst="roundRect">
            <a:avLst>
              <a:gd name="adj" fmla="val 0"/>
            </a:avLst>
          </a:prstGeom>
          <a:solidFill>
            <a:srgbClr val="FFFFFF">
              <a:alpha val="95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8128000" y="3683000"/>
            <a:ext cx="3492500" cy="38100"/>
          </a:xfrm>
          <a:prstGeom prst="roundRect">
            <a:avLst>
              <a:gd name="adj" fmla="val 0"/>
            </a:avLst>
          </a:prstGeom>
          <a:solidFill>
            <a:srgbClr val="14B8A6">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8255000" y="3835400"/>
            <a:ext cx="323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4B8A6"/>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安全与合规新高度</a:t>
            </a:r>
            <a:endParaRPr lang="en-US" sz="1100"/>
          </a:p>
        </p:txBody>
      </p:sp>
      <p:sp>
        <p:nvSpPr>
          <p:cNvPr id="31" name="AutoShape 31"/>
          <p:cNvSpPr/>
          <p:nvPr/>
        </p:nvSpPr>
        <p:spPr>
          <a:xfrm>
            <a:off x="8255000" y="4318000"/>
            <a:ext cx="3238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2D3748">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在互联互通的趋势下，数据安全是不可逾越的红线。系统架构需内置高强度加密、细粒度访问控制与全流程审计机制，严格遵守数据隐私法规，全方位守护患者敏感信息。</a:t>
            </a:r>
            <a:endParaRPr lang="en-US" sz="1100"/>
          </a:p>
        </p:txBody>
      </p:sp>
      <p:sp>
        <p:nvSpPr>
          <p:cNvPr id="32" name="AutoShape 32"/>
          <p:cNvSpPr/>
          <p:nvPr/>
        </p:nvSpPr>
        <p:spPr>
          <a:xfrm>
            <a:off x="762000" y="5651500"/>
            <a:ext cx="10858500" cy="1016000"/>
          </a:xfrm>
          <a:prstGeom prst="roundRect">
            <a:avLst>
              <a:gd name="adj" fmla="val 0"/>
            </a:avLst>
          </a:prstGeom>
          <a:solidFill>
            <a:srgbClr val="4FD1C5">
              <a:alpha val="18000"/>
            </a:srgbClr>
          </a:solidFill>
          <a:ln w="25400" cap="flat" cmpd="sng">
            <a:noFill/>
            <a:prstDash val="solid"/>
            <a:round/>
          </a:ln>
        </p:spPr>
        <p:txBody>
          <a:bodyPr vert="horz" wrap="square" lIns="63500" tIns="63500" rIns="63500" bIns="63500" rtlCol="0" anchor="ctr"/>
          <a:lstStyle/>
          <a:p>
            <a:pPr algn="ctr">
              <a:defRPr/>
            </a:pPr>
          </a:p>
        </p:txBody>
      </p:sp>
      <p:sp>
        <p:nvSpPr>
          <p:cNvPr id="33" name="AutoShape 33"/>
          <p:cNvSpPr/>
          <p:nvPr/>
        </p:nvSpPr>
        <p:spPr>
          <a:xfrm>
            <a:off x="952500" y="5740400"/>
            <a:ext cx="10477500" cy="8382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2D3748"/>
                </a:solidFill>
                <a:latin typeface="Noto Sans SC" panose="020B0200000000000000" charset="-122"/>
                <a:ea typeface="Noto Sans SC" panose="020B0200000000000000" charset="-122"/>
                <a:cs typeface="Noto Sans SC" panose="020B0200000000000000" charset="-122"/>
                <a:sym typeface="Noto Sans SC" panose="020B0200000000000000" charset="-122"/>
              </a:rPr>
              <a:t>以标准化、规范化的数据结构为坚实基石，积极拥抱FHIR互联互通标准与前沿AI技术，同时构建全方位的数据安全防线。这不仅是技术的迭代升级，更是构建高效、智慧、可信的新一代医疗健康信息系统的必由之路。</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1016000" y="30480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感谢观看</a:t>
            </a:r>
            <a:endParaRPr lang="en-US" sz="1100"/>
          </a:p>
        </p:txBody>
      </p:sp>
      <p:pic>
        <p:nvPicPr>
          <p:cNvPr id="4" name="Picture 4"/>
          <p:cNvPicPr>
            <a:picLocks noChangeAspect="1"/>
          </p:cNvPicPr>
          <p:nvPr/>
        </p:nvPicPr>
        <p:blipFill>
          <a:blip r:embed="rId2"/>
          <a:stretch>
            <a:fillRect/>
          </a:stretch>
        </p:blipFill>
        <p:spPr>
          <a:xfrm>
            <a:off x="10668000" y="6190112"/>
            <a:ext cx="1524000" cy="66788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380,&quot;left&quot;:60,&quot;top&quot;:120,&quot;width&quot;:840}"/>
</p:tagLst>
</file>

<file path=ppt/tags/tag2.xml><?xml version="1.0" encoding="utf-8"?>
<p:tagLst xmlns:p="http://schemas.openxmlformats.org/presentationml/2006/main">
  <p:tag name="KSO_WM_DIAGRAM_VIRTUALLY_FRAME" val="{&quot;height&quot;:380,&quot;left&quot;:60,&quot;top&quot;:120,&quot;width&quot;:840}"/>
</p:tagLst>
</file>

<file path=ppt/tags/tag3.xml><?xml version="1.0" encoding="utf-8"?>
<p:tagLst xmlns:p="http://schemas.openxmlformats.org/presentationml/2006/main">
  <p:tag name="KSO_WM_DIAGRAM_VIRTUALLY_FRAME" val="{&quot;height&quot;:380,&quot;left&quot;:60,&quot;top&quot;:120,&quot;width&quot;:840}"/>
</p:tagLst>
</file>

<file path=ppt/tags/tag4.xml><?xml version="1.0" encoding="utf-8"?>
<p:tagLst xmlns:p="http://schemas.openxmlformats.org/presentationml/2006/main">
  <p:tag name="KSO_WM_DIAGRAM_VIRTUALLY_FRAME" val="{&quot;height&quot;:380,&quot;left&quot;:60,&quot;top&quot;:120,&quot;width&quot;:840}"/>
</p:tagLst>
</file>

<file path=ppt/tags/tag5.xml><?xml version="1.0" encoding="utf-8"?>
<p:tagLst xmlns:p="http://schemas.openxmlformats.org/presentationml/2006/main">
  <p:tag name="KSO_WM_DIAGRAM_VIRTUALLY_FRAME" val="{&quot;height&quot;:380,&quot;left&quot;:60,&quot;top&quot;:120,&quot;width&quot;:840}"/>
</p:tagLst>
</file>

<file path=ppt/tags/tag6.xml><?xml version="1.0" encoding="utf-8"?>
<p:tagLst xmlns:p="http://schemas.openxmlformats.org/presentationml/2006/main">
  <p:tag name="KSO_WM_DIAGRAM_VIRTUALLY_FRAME" val="{&quot;height&quot;:380,&quot;left&quot;:60,&quot;top&quot;:120,&quot;width&quot;:840}"/>
</p:tagLst>
</file>

<file path=ppt/tags/tag7.xml><?xml version="1.0" encoding="utf-8"?>
<p:tagLst xmlns:p="http://schemas.openxmlformats.org/presentationml/2006/main">
  <p:tag name="KSO_WM_DIAGRAM_VIRTUALLY_FRAME" val="{&quot;height&quot;:380,&quot;left&quot;:60,&quot;top&quot;:120,&quot;width&quot;:840}"/>
</p:tagLst>
</file>

<file path=ppt/tags/tag8.xml><?xml version="1.0" encoding="utf-8"?>
<p:tagLst xmlns:p="http://schemas.openxmlformats.org/presentationml/2006/main">
  <p:tag name="KSO_WM_DIAGRAM_VIRTUALLY_FRAME" val="{&quot;height&quot;:380,&quot;left&quot;:60,&quot;top&quot;:120,&quot;width&quot;:840}"/>
</p:tagLst>
</file>

<file path=ppt/tags/tag9.xml><?xml version="1.0" encoding="utf-8"?>
<p:tagLst xmlns:p="http://schemas.openxmlformats.org/presentationml/2006/main">
  <p:tag name="KSO_WM_DIAGRAM_VIRTUALLY_FRAME" val="{&quot;height&quot;:380,&quot;left&quot;:60,&quot;top&quot;:120,&quot;width&quot;:840}"/>
</p:tagLst>
</file>

<file path=ppt/tags/tag10.xml><?xml version="1.0" encoding="utf-8"?>
<p:tagLst xmlns:p="http://schemas.openxmlformats.org/presentationml/2006/main">
  <p:tag name="KSO_WM_DIAGRAM_VIRTUALLY_FRAME" val="{&quot;height&quot;:380,&quot;left&quot;:60,&quot;top&quot;:120,&quot;width&quot;:840}"/>
</p:tagLst>
</file>

<file path=ppt/tags/tag11.xml><?xml version="1.0" encoding="utf-8"?>
<p:tagLst xmlns:p="http://schemas.openxmlformats.org/presentationml/2006/main">
  <p:tag name="KSO_WM_DIAGRAM_VIRTUALLY_FRAME" val="{&quot;height&quot;:380,&quot;left&quot;:60,&quot;top&quot;:120,&quot;width&quot;:840}"/>
</p:tagLst>
</file>

<file path=ppt/tags/tag12.xml><?xml version="1.0" encoding="utf-8"?>
<p:tagLst xmlns:p="http://schemas.openxmlformats.org/presentationml/2006/main">
  <p:tag name="KSO_WM_DIAGRAM_VIRTUALLY_FRAME" val="{&quot;height&quot;:380,&quot;left&quot;:60,&quot;top&quot;:120,&quot;width&quot;:840}"/>
</p:tagLst>
</file>

<file path=ppt/tags/tag13.xml><?xml version="1.0" encoding="utf-8"?>
<p:tagLst xmlns:p="http://schemas.openxmlformats.org/presentationml/2006/main">
  <p:tag name="KSO_WM_DIAGRAM_VIRTUALLY_FRAME" val="{&quot;height&quot;:380,&quot;left&quot;:60,&quot;top&quot;:120,&quot;width&quot;:840}"/>
</p:tagLst>
</file>

<file path=ppt/tags/tag14.xml><?xml version="1.0" encoding="utf-8"?>
<p:tagLst xmlns:p="http://schemas.openxmlformats.org/presentationml/2006/main">
  <p:tag name="KSO_WM_DIAGRAM_VIRTUALLY_FRAME" val="{&quot;height&quot;:380,&quot;left&quot;:60,&quot;top&quot;:120,&quot;width&quot;:840}"/>
</p:tagLst>
</file>

<file path=ppt/tags/tag15.xml><?xml version="1.0" encoding="utf-8"?>
<p:tagLst xmlns:p="http://schemas.openxmlformats.org/presentationml/2006/main">
  <p:tag name="KSO_WM_DIAGRAM_VIRTUALLY_FRAME" val="{&quot;height&quot;:380,&quot;left&quot;:60,&quot;top&quot;:120,&quot;width&quot;:840}"/>
</p:tagLst>
</file>

<file path=ppt/tags/tag16.xml><?xml version="1.0" encoding="utf-8"?>
<p:tagLst xmlns:p="http://schemas.openxmlformats.org/presentationml/2006/main">
  <p:tag name="KSO_WM_DIAGRAM_VIRTUALLY_FRAME" val="{&quot;height&quot;:380,&quot;left&quot;:60,&quot;top&quot;:120,&quot;width&quot;:840}"/>
</p:tagLst>
</file>

<file path=ppt/tags/tag17.xml><?xml version="1.0" encoding="utf-8"?>
<p:tagLst xmlns:p="http://schemas.openxmlformats.org/presentationml/2006/main">
  <p:tag name="KSO_WM_DIAGRAM_VIRTUALLY_FRAME" val="{&quot;height&quot;:380,&quot;left&quot;:60,&quot;top&quot;:120,&quot;width&quot;:840}"/>
</p:tagLst>
</file>

<file path=ppt/tags/tag18.xml><?xml version="1.0" encoding="utf-8"?>
<p:tagLst xmlns:p="http://schemas.openxmlformats.org/presentationml/2006/main">
  <p:tag name="KSO_WM_DIAGRAM_VIRTUALLY_FRAME" val="{&quot;height&quot;:380,&quot;left&quot;:60,&quot;top&quot;:120,&quot;width&quot;:840}"/>
</p:tagLst>
</file>

<file path=ppt/tags/tag19.xml><?xml version="1.0" encoding="utf-8"?>
<p:tagLst xmlns:p="http://schemas.openxmlformats.org/presentationml/2006/main">
  <p:tag name="KSO_WM_DIAGRAM_VIRTUALLY_FRAME" val="{&quot;height&quot;:380,&quot;left&quot;:60,&quot;top&quot;:120,&quot;width&quot;:840}"/>
</p:tagLst>
</file>

<file path=ppt/tags/tag20.xml><?xml version="1.0" encoding="utf-8"?>
<p:tagLst xmlns:p="http://schemas.openxmlformats.org/presentationml/2006/main">
  <p:tag name="KSO_WM_DIAGRAM_VIRTUALLY_FRAME" val="{&quot;height&quot;:380,&quot;left&quot;:60,&quot;top&quot;:120,&quot;width&quot;:840}"/>
</p:tagLst>
</file>

<file path=ppt/tags/tag21.xml><?xml version="1.0" encoding="utf-8"?>
<p:tagLst xmlns:p="http://schemas.openxmlformats.org/presentationml/2006/main">
  <p:tag name="KSO_WM_DIAGRAM_VIRTUALLY_FRAME" val="{&quot;height&quot;:380,&quot;left&quot;:60,&quot;top&quot;:120,&quot;width&quot;:840}"/>
</p:tagLst>
</file>

<file path=ppt/tags/tag22.xml><?xml version="1.0" encoding="utf-8"?>
<p:tagLst xmlns:p="http://schemas.openxmlformats.org/presentationml/2006/main">
  <p:tag name="KSO_WM_DIAGRAM_VIRTUALLY_FRAME" val="{&quot;height&quot;:380,&quot;left&quot;:60,&quot;top&quot;:120,&quot;width&quot;:840}"/>
</p:tagLst>
</file>

<file path=ppt/tags/tag23.xml><?xml version="1.0" encoding="utf-8"?>
<p:tagLst xmlns:p="http://schemas.openxmlformats.org/presentationml/2006/main">
  <p:tag name="KSO_WM_DIAGRAM_VIRTUALLY_FRAME" val="{&quot;height&quot;:380,&quot;left&quot;:60,&quot;top&quot;:120,&quot;width&quot;:840}"/>
</p:tagLst>
</file>

<file path=ppt/tags/tag24.xml><?xml version="1.0" encoding="utf-8"?>
<p:tagLst xmlns:p="http://schemas.openxmlformats.org/presentationml/2006/main">
  <p:tag name="KSO_WM_DIAGRAM_VIRTUALLY_FRAME" val="{&quot;height&quot;:380,&quot;left&quot;:60,&quot;top&quot;:12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10733</Words>
  <Application>WPS 演示</Application>
  <PresentationFormat/>
  <Paragraphs>636</Paragraphs>
  <Slides>25</Slides>
  <Notes>0</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25</vt:i4>
      </vt:variant>
    </vt:vector>
  </HeadingPairs>
  <TitlesOfParts>
    <vt:vector size="36" baseType="lpstr">
      <vt:lpstr>Arial</vt:lpstr>
      <vt:lpstr>宋体</vt:lpstr>
      <vt:lpstr>Wingdings</vt:lpstr>
      <vt:lpstr>Arial</vt:lpstr>
      <vt:lpstr>Noto Sans SC</vt:lpstr>
      <vt:lpstr>微软雅黑</vt:lpstr>
      <vt:lpstr>Arial Unicode MS</vt:lpstr>
      <vt:lpstr>Consolas</vt:lpstr>
      <vt:lpstr>Office 主题​​</vt:lpstr>
      <vt:lpstr>默认主题</vt:lpstr>
      <vt:lpstr>1_默认主题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李永春</cp:lastModifiedBy>
  <cp:revision>3</cp:revision>
  <dcterms:created xsi:type="dcterms:W3CDTF">2026-05-26T13:04:00Z</dcterms:created>
  <dcterms:modified xsi:type="dcterms:W3CDTF">2026-05-28T01:26:26Z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{"Label":"1","ContentProducer":"001191110102MACQD9K64010000","ProduceID":"7644183635648793552","ReservedCode1":"","ContentPropagator":"","PropagateID":"","ReservedCode2":""}</vt:lpwstr>
  </property>
  <property fmtid="{D5CDD505-2E9C-101B-9397-08002B2CF9AE}" pid="3" name="KSOProductBuildVer">
    <vt:lpwstr>2052-12.1.0.26375</vt:lpwstr>
  </property>
  <property fmtid="{D5CDD505-2E9C-101B-9397-08002B2CF9AE}" pid="4" name="ICV">
    <vt:lpwstr>BCCACC3766974EFF980035D76010B8E7_12</vt:lpwstr>
  </property>
</Properties>
</file>